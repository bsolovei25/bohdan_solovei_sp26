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62" r:id="rId3"/>
    <p:sldId id="263" r:id="rId4"/>
    <p:sldId id="260" r:id="rId5"/>
    <p:sldId id="264" r:id="rId6"/>
    <p:sldId id="265" r:id="rId7"/>
    <p:sldId id="266" r:id="rId8"/>
    <p:sldId id="267" r:id="rId9"/>
    <p:sldId id="257" r:id="rId10"/>
    <p:sldId id="258" r:id="rId11"/>
    <p:sldId id="259"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77" autoAdjust="0"/>
    <p:restoredTop sz="79695" autoAdjust="0"/>
  </p:normalViewPr>
  <p:slideViewPr>
    <p:cSldViewPr snapToGrid="0">
      <p:cViewPr>
        <p:scale>
          <a:sx n="100" d="100"/>
          <a:sy n="100" d="100"/>
        </p:scale>
        <p:origin x="48" y="-360"/>
      </p:cViewPr>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1A4586-3EDC-4887-B613-BC94C279D709}" type="datetimeFigureOut">
              <a:rPr lang="en-US" smtClean="0"/>
              <a:t>7/31/2026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229DCC-59D3-4387-BC31-DC8272126700}" type="slidenum">
              <a:rPr lang="en-US" smtClean="0"/>
              <a:t>‹#›</a:t>
            </a:fld>
            <a:endParaRPr lang="en-US"/>
          </a:p>
        </p:txBody>
      </p:sp>
    </p:spTree>
    <p:extLst>
      <p:ext uri="{BB962C8B-B14F-4D97-AF65-F5344CB8AC3E}">
        <p14:creationId xmlns:p14="http://schemas.microsoft.com/office/powerpoint/2010/main" val="808379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229DCC-59D3-4387-BC31-DC8272126700}" type="slidenum">
              <a:rPr lang="en-US" smtClean="0"/>
              <a:t>1</a:t>
            </a:fld>
            <a:endParaRPr lang="en-US"/>
          </a:p>
        </p:txBody>
      </p:sp>
    </p:spTree>
    <p:extLst>
      <p:ext uri="{BB962C8B-B14F-4D97-AF65-F5344CB8AC3E}">
        <p14:creationId xmlns:p14="http://schemas.microsoft.com/office/powerpoint/2010/main" val="787013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SELECT COUNT(*) AS </a:t>
            </a:r>
            <a:r>
              <a:rPr lang="en-US" dirty="0" err="1"/>
              <a:t>sa_booking_rows_before</a:t>
            </a:r>
            <a:endParaRPr lang="en-US" dirty="0"/>
          </a:p>
          <a:p>
            <a:r>
              <a:rPr lang="en-US" dirty="0"/>
              <a:t>FROM </a:t>
            </a:r>
            <a:r>
              <a:rPr lang="en-US" dirty="0" err="1"/>
              <a:t>sa_bookings.src_bookings</a:t>
            </a:r>
            <a:r>
              <a:rPr lang="en-US" dirty="0"/>
              <a:t>;</a:t>
            </a:r>
          </a:p>
          <a:p>
            <a:endParaRPr lang="en-US" dirty="0"/>
          </a:p>
          <a:p>
            <a:r>
              <a:rPr lang="en-US" dirty="0"/>
              <a:t>SELECT COUNT(*) AS </a:t>
            </a:r>
            <a:r>
              <a:rPr lang="en-US" dirty="0" err="1"/>
              <a:t>sa_satisfaction_rows_before</a:t>
            </a:r>
            <a:endParaRPr lang="en-US" dirty="0"/>
          </a:p>
          <a:p>
            <a:r>
              <a:rPr lang="en-US" dirty="0"/>
              <a:t>FROM </a:t>
            </a:r>
            <a:r>
              <a:rPr lang="en-US" dirty="0" err="1"/>
              <a:t>sa_customer_satisfactions.src_customer_satisfactions</a:t>
            </a:r>
            <a:r>
              <a:rPr lang="en-US" dirty="0"/>
              <a:t>;</a:t>
            </a:r>
          </a:p>
          <a:p>
            <a:endParaRPr lang="en-US" dirty="0"/>
          </a:p>
          <a:p>
            <a:r>
              <a:rPr lang="en-US" dirty="0"/>
              <a:t>-- 2. BL_3NF row counts</a:t>
            </a:r>
          </a:p>
          <a:p>
            <a:r>
              <a:rPr lang="en-US" dirty="0"/>
              <a:t>SELECT COUNT(*) AS </a:t>
            </a:r>
            <a:r>
              <a:rPr lang="en-US" dirty="0" err="1"/>
              <a:t>ce_booking_rows_before</a:t>
            </a:r>
            <a:endParaRPr lang="en-US" dirty="0"/>
          </a:p>
          <a:p>
            <a:r>
              <a:rPr lang="en-US" dirty="0"/>
              <a:t>FROM bl_3nf.ce_bookings;</a:t>
            </a:r>
          </a:p>
          <a:p>
            <a:endParaRPr lang="en-US" dirty="0"/>
          </a:p>
          <a:p>
            <a:r>
              <a:rPr lang="en-US" dirty="0"/>
              <a:t>SELECT COUNT(*) AS </a:t>
            </a:r>
            <a:r>
              <a:rPr lang="en-US" dirty="0" err="1"/>
              <a:t>ce_satisfaction_rows_before</a:t>
            </a:r>
            <a:endParaRPr lang="en-US" dirty="0"/>
          </a:p>
          <a:p>
            <a:r>
              <a:rPr lang="en-US" dirty="0"/>
              <a:t>FROM bl_3nf.ce_customer_satisfactions;</a:t>
            </a:r>
          </a:p>
          <a:p>
            <a:endParaRPr lang="en-US" dirty="0"/>
          </a:p>
          <a:p>
            <a:r>
              <a:rPr lang="en-US" dirty="0"/>
              <a:t>-- 3. Fact row counts</a:t>
            </a:r>
          </a:p>
          <a:p>
            <a:r>
              <a:rPr lang="en-US" dirty="0"/>
              <a:t>SELECT COUNT(*) AS </a:t>
            </a:r>
            <a:r>
              <a:rPr lang="en-US" dirty="0" err="1"/>
              <a:t>booking_fact_rows_before</a:t>
            </a:r>
            <a:endParaRPr lang="en-US" dirty="0"/>
          </a:p>
          <a:p>
            <a:r>
              <a:rPr lang="en-US" dirty="0"/>
              <a:t>FROM </a:t>
            </a:r>
            <a:r>
              <a:rPr lang="en-US" dirty="0" err="1"/>
              <a:t>bl_dm.fct_bookings_dd</a:t>
            </a:r>
            <a:r>
              <a:rPr lang="en-US" dirty="0"/>
              <a:t>;</a:t>
            </a:r>
          </a:p>
          <a:p>
            <a:endParaRPr lang="en-US" dirty="0"/>
          </a:p>
          <a:p>
            <a:r>
              <a:rPr lang="en-US" dirty="0"/>
              <a:t>SELECT COUNT(*) AS </a:t>
            </a:r>
            <a:r>
              <a:rPr lang="en-US" dirty="0" err="1"/>
              <a:t>satisfaction_fact_rows_before</a:t>
            </a:r>
            <a:endParaRPr lang="en-US" dirty="0"/>
          </a:p>
          <a:p>
            <a:r>
              <a:rPr lang="en-US" dirty="0"/>
              <a:t>FROM </a:t>
            </a:r>
            <a:r>
              <a:rPr lang="en-US" dirty="0" err="1"/>
              <a:t>bl_dm.fct_customer_satisfactions_dd</a:t>
            </a:r>
            <a:r>
              <a:rPr lang="en-US" dirty="0"/>
              <a:t>;</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1229DCC-59D3-4387-BC31-DC8272126700}" type="slidenum">
              <a:rPr lang="en-US" smtClean="0"/>
              <a:t>5</a:t>
            </a:fld>
            <a:endParaRPr lang="en-US"/>
          </a:p>
        </p:txBody>
      </p:sp>
    </p:spTree>
    <p:extLst>
      <p:ext uri="{BB962C8B-B14F-4D97-AF65-F5344CB8AC3E}">
        <p14:creationId xmlns:p14="http://schemas.microsoft.com/office/powerpoint/2010/main" val="3711399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b="1" dirty="0">
                <a:solidFill>
                  <a:srgbClr val="800000"/>
                </a:solidFill>
                <a:effectLst/>
                <a:latin typeface="Consolas" panose="020B0609020204030204" pitchFamily="49" charset="0"/>
              </a:rPr>
              <a:t>SELECT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i="1" dirty="0" err="1">
                <a:solidFill>
                  <a:srgbClr val="8E00C6"/>
                </a:solidFill>
                <a:effectLst/>
                <a:latin typeface="Consolas" panose="020B0609020204030204" pitchFamily="49" charset="0"/>
              </a:rPr>
              <a:t>child</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relname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err="1">
                <a:solidFill>
                  <a:srgbClr val="006464"/>
                </a:solidFill>
                <a:effectLst/>
                <a:latin typeface="Consolas" panose="020B0609020204030204" pitchFamily="49" charset="0"/>
              </a:rPr>
              <a:t>partition_name</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err="1">
                <a:solidFill>
                  <a:srgbClr val="000080"/>
                </a:solidFill>
                <a:effectLst/>
                <a:latin typeface="Consolas" panose="020B0609020204030204" pitchFamily="49" charset="0"/>
              </a:rPr>
              <a:t>pg_get_expr</a:t>
            </a:r>
            <a:r>
              <a:rPr lang="en-US" sz="1800" dirty="0">
                <a:solidFill>
                  <a:srgbClr val="000000"/>
                </a:solidFill>
                <a:effectLst/>
                <a:latin typeface="Consolas" panose="020B0609020204030204" pitchFamily="49" charset="0"/>
              </a:rPr>
              <a:t>(</a:t>
            </a:r>
            <a:r>
              <a:rPr lang="en-US" sz="1800" i="1" dirty="0" err="1">
                <a:solidFill>
                  <a:srgbClr val="8E00C6"/>
                </a:solidFill>
                <a:effectLst/>
                <a:latin typeface="Consolas" panose="020B0609020204030204" pitchFamily="49" charset="0"/>
              </a:rPr>
              <a:t>child</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relpartbound</a:t>
            </a:r>
            <a:r>
              <a:rPr lang="en-US" sz="1800" dirty="0">
                <a:solidFill>
                  <a:srgbClr val="000000"/>
                </a:solidFill>
                <a:effectLst/>
                <a:latin typeface="Consolas" panose="020B0609020204030204" pitchFamily="49" charset="0"/>
              </a:rPr>
              <a:t>, </a:t>
            </a:r>
            <a:r>
              <a:rPr lang="en-US" sz="1800" i="1" dirty="0" err="1">
                <a:solidFill>
                  <a:srgbClr val="8E00C6"/>
                </a:solidFill>
                <a:effectLst/>
                <a:latin typeface="Consolas" panose="020B0609020204030204" pitchFamily="49" charset="0"/>
              </a:rPr>
              <a:t>child</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oid</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err="1">
                <a:solidFill>
                  <a:srgbClr val="006464"/>
                </a:solidFill>
                <a:effectLst/>
                <a:latin typeface="Consolas" panose="020B0609020204030204" pitchFamily="49" charset="0"/>
              </a:rPr>
              <a:t>partition_range</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dirty="0" err="1">
                <a:solidFill>
                  <a:srgbClr val="8E00C6"/>
                </a:solidFill>
                <a:effectLst/>
                <a:latin typeface="Consolas" panose="020B0609020204030204" pitchFamily="49" charset="0"/>
              </a:rPr>
              <a:t>pg_inherits</a:t>
            </a:r>
            <a:r>
              <a:rPr lang="en-US" sz="1800" dirty="0">
                <a:solidFill>
                  <a:srgbClr val="000000"/>
                </a:solidFill>
                <a:effectLst/>
                <a:latin typeface="Consolas" panose="020B0609020204030204" pitchFamily="49" charset="0"/>
              </a:rPr>
              <a:t> </a:t>
            </a:r>
            <a:r>
              <a:rPr lang="en-US" sz="1800" i="1" dirty="0" err="1">
                <a:solidFill>
                  <a:srgbClr val="8E00C6"/>
                </a:solidFill>
                <a:effectLst/>
                <a:latin typeface="Consolas" panose="020B0609020204030204" pitchFamily="49" charset="0"/>
              </a:rPr>
              <a:t>i</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JOIN</a:t>
            </a:r>
            <a:r>
              <a:rPr lang="en-US" sz="1800" dirty="0">
                <a:solidFill>
                  <a:srgbClr val="000000"/>
                </a:solidFill>
                <a:effectLst/>
                <a:latin typeface="Consolas" panose="020B0609020204030204" pitchFamily="49" charset="0"/>
              </a:rPr>
              <a:t> </a:t>
            </a:r>
            <a:r>
              <a:rPr lang="en-US" sz="1800" dirty="0" err="1">
                <a:solidFill>
                  <a:srgbClr val="8E00C6"/>
                </a:solidFill>
                <a:effectLst/>
                <a:latin typeface="Consolas" panose="020B0609020204030204" pitchFamily="49" charset="0"/>
              </a:rPr>
              <a:t>pg_class</a:t>
            </a:r>
            <a:r>
              <a:rPr lang="en-US" sz="1800" dirty="0">
                <a:solidFill>
                  <a:srgbClr val="000000"/>
                </a:solidFill>
                <a:effectLst/>
                <a:latin typeface="Consolas" panose="020B0609020204030204" pitchFamily="49" charset="0"/>
              </a:rPr>
              <a:t> </a:t>
            </a:r>
            <a:r>
              <a:rPr lang="en-US" sz="1800" i="1" dirty="0">
                <a:solidFill>
                  <a:srgbClr val="8E00C6"/>
                </a:solidFill>
                <a:effectLst/>
                <a:latin typeface="Consolas" panose="020B0609020204030204" pitchFamily="49" charset="0"/>
              </a:rPr>
              <a:t>parent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ON</a:t>
            </a:r>
            <a:r>
              <a:rPr lang="en-US" sz="1800" dirty="0">
                <a:solidFill>
                  <a:srgbClr val="000000"/>
                </a:solidFill>
                <a:effectLst/>
                <a:latin typeface="Consolas" panose="020B0609020204030204" pitchFamily="49" charset="0"/>
              </a:rPr>
              <a:t> </a:t>
            </a:r>
            <a:r>
              <a:rPr lang="en-US" sz="1800" i="1" dirty="0" err="1">
                <a:solidFill>
                  <a:srgbClr val="8E00C6"/>
                </a:solidFill>
                <a:effectLst/>
                <a:latin typeface="Consolas" panose="020B0609020204030204" pitchFamily="49" charset="0"/>
              </a:rPr>
              <a:t>parent</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oid</a:t>
            </a:r>
            <a:r>
              <a:rPr lang="en-US" sz="1800" dirty="0">
                <a:solidFill>
                  <a:srgbClr val="000000"/>
                </a:solidFill>
                <a:effectLst/>
                <a:latin typeface="Consolas" panose="020B0609020204030204" pitchFamily="49" charset="0"/>
              </a:rPr>
              <a:t> = </a:t>
            </a:r>
            <a:r>
              <a:rPr lang="en-US" sz="1800" i="1" dirty="0" err="1">
                <a:solidFill>
                  <a:srgbClr val="8E00C6"/>
                </a:solidFill>
                <a:effectLst/>
                <a:latin typeface="Consolas" panose="020B0609020204030204" pitchFamily="49" charset="0"/>
              </a:rPr>
              <a:t>i</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inhparent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JOIN</a:t>
            </a:r>
            <a:r>
              <a:rPr lang="en-US" sz="1800" dirty="0">
                <a:solidFill>
                  <a:srgbClr val="000000"/>
                </a:solidFill>
                <a:effectLst/>
                <a:latin typeface="Consolas" panose="020B0609020204030204" pitchFamily="49" charset="0"/>
              </a:rPr>
              <a:t> </a:t>
            </a:r>
            <a:r>
              <a:rPr lang="en-US" sz="1800" dirty="0" err="1">
                <a:solidFill>
                  <a:srgbClr val="8E00C6"/>
                </a:solidFill>
                <a:effectLst/>
                <a:latin typeface="Consolas" panose="020B0609020204030204" pitchFamily="49" charset="0"/>
              </a:rPr>
              <a:t>pg_class</a:t>
            </a:r>
            <a:r>
              <a:rPr lang="en-US" sz="1800" dirty="0">
                <a:solidFill>
                  <a:srgbClr val="000000"/>
                </a:solidFill>
                <a:effectLst/>
                <a:latin typeface="Consolas" panose="020B0609020204030204" pitchFamily="49" charset="0"/>
              </a:rPr>
              <a:t> </a:t>
            </a:r>
            <a:r>
              <a:rPr lang="en-US" sz="1800" i="1" dirty="0">
                <a:solidFill>
                  <a:srgbClr val="8E00C6"/>
                </a:solidFill>
                <a:effectLst/>
                <a:latin typeface="Consolas" panose="020B0609020204030204" pitchFamily="49" charset="0"/>
              </a:rPr>
              <a:t>child</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ON</a:t>
            </a:r>
            <a:r>
              <a:rPr lang="en-US" sz="1800" dirty="0">
                <a:solidFill>
                  <a:srgbClr val="000000"/>
                </a:solidFill>
                <a:effectLst/>
                <a:latin typeface="Consolas" panose="020B0609020204030204" pitchFamily="49" charset="0"/>
              </a:rPr>
              <a:t> </a:t>
            </a:r>
            <a:r>
              <a:rPr lang="en-US" sz="1800" i="1" dirty="0" err="1">
                <a:solidFill>
                  <a:srgbClr val="8E00C6"/>
                </a:solidFill>
                <a:effectLst/>
                <a:latin typeface="Consolas" panose="020B0609020204030204" pitchFamily="49" charset="0"/>
              </a:rPr>
              <a:t>child</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oid</a:t>
            </a:r>
            <a:r>
              <a:rPr lang="en-US" sz="1800" dirty="0">
                <a:solidFill>
                  <a:srgbClr val="000000"/>
                </a:solidFill>
                <a:effectLst/>
                <a:latin typeface="Consolas" panose="020B0609020204030204" pitchFamily="49" charset="0"/>
              </a:rPr>
              <a:t> = </a:t>
            </a:r>
            <a:r>
              <a:rPr lang="en-US" sz="1800" i="1" dirty="0" err="1">
                <a:solidFill>
                  <a:srgbClr val="8E00C6"/>
                </a:solidFill>
                <a:effectLst/>
                <a:latin typeface="Consolas" panose="020B0609020204030204" pitchFamily="49" charset="0"/>
              </a:rPr>
              <a:t>i</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inhrelid</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JOIN</a:t>
            </a:r>
            <a:r>
              <a:rPr lang="en-US" sz="1800" dirty="0">
                <a:solidFill>
                  <a:srgbClr val="000000"/>
                </a:solidFill>
                <a:effectLst/>
                <a:latin typeface="Consolas" panose="020B0609020204030204" pitchFamily="49" charset="0"/>
              </a:rPr>
              <a:t> </a:t>
            </a:r>
            <a:r>
              <a:rPr lang="en-US" sz="1800" dirty="0" err="1">
                <a:solidFill>
                  <a:srgbClr val="8E00C6"/>
                </a:solidFill>
                <a:effectLst/>
                <a:latin typeface="Consolas" panose="020B0609020204030204" pitchFamily="49" charset="0"/>
              </a:rPr>
              <a:t>pg_namespace</a:t>
            </a:r>
            <a:r>
              <a:rPr lang="en-US" sz="1800" dirty="0">
                <a:solidFill>
                  <a:srgbClr val="000000"/>
                </a:solidFill>
                <a:effectLst/>
                <a:latin typeface="Consolas" panose="020B0609020204030204" pitchFamily="49" charset="0"/>
              </a:rPr>
              <a:t> </a:t>
            </a:r>
            <a:r>
              <a:rPr lang="en-US" sz="1800" i="1" dirty="0">
                <a:solidFill>
                  <a:srgbClr val="8E00C6"/>
                </a:solidFill>
                <a:effectLst/>
                <a:latin typeface="Consolas" panose="020B0609020204030204" pitchFamily="49" charset="0"/>
              </a:rPr>
              <a:t>n</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ON</a:t>
            </a:r>
            <a:r>
              <a:rPr lang="en-US" sz="1800" dirty="0">
                <a:solidFill>
                  <a:srgbClr val="000000"/>
                </a:solidFill>
                <a:effectLst/>
                <a:latin typeface="Consolas" panose="020B0609020204030204" pitchFamily="49" charset="0"/>
              </a:rPr>
              <a:t> </a:t>
            </a:r>
            <a:r>
              <a:rPr lang="en-US" sz="1800" i="1" dirty="0" err="1">
                <a:solidFill>
                  <a:srgbClr val="8E00C6"/>
                </a:solidFill>
                <a:effectLst/>
                <a:latin typeface="Consolas" panose="020B0609020204030204" pitchFamily="49" charset="0"/>
              </a:rPr>
              <a:t>n</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oid</a:t>
            </a:r>
            <a:r>
              <a:rPr lang="en-US" sz="1800" dirty="0">
                <a:solidFill>
                  <a:srgbClr val="000000"/>
                </a:solidFill>
                <a:effectLst/>
                <a:latin typeface="Consolas" panose="020B0609020204030204" pitchFamily="49" charset="0"/>
              </a:rPr>
              <a:t> = </a:t>
            </a:r>
            <a:r>
              <a:rPr lang="en-US" sz="1800" i="1" dirty="0" err="1">
                <a:solidFill>
                  <a:srgbClr val="8E00C6"/>
                </a:solidFill>
                <a:effectLst/>
                <a:latin typeface="Consolas" panose="020B0609020204030204" pitchFamily="49" charset="0"/>
              </a:rPr>
              <a:t>parent</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relnamespace</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WHERE</a:t>
            </a:r>
            <a:r>
              <a:rPr lang="en-US" sz="1800" dirty="0">
                <a:solidFill>
                  <a:srgbClr val="000000"/>
                </a:solidFill>
                <a:effectLst/>
                <a:latin typeface="Consolas" panose="020B0609020204030204" pitchFamily="49" charset="0"/>
              </a:rPr>
              <a:t> </a:t>
            </a:r>
            <a:r>
              <a:rPr lang="en-US" sz="1800" i="1" dirty="0" err="1">
                <a:solidFill>
                  <a:srgbClr val="8E00C6"/>
                </a:solidFill>
                <a:effectLst/>
                <a:latin typeface="Consolas" panose="020B0609020204030204" pitchFamily="49" charset="0"/>
              </a:rPr>
              <a:t>n</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nspname</a:t>
            </a:r>
            <a:r>
              <a:rPr lang="en-US" sz="1800" dirty="0">
                <a:solidFill>
                  <a:srgbClr val="000000"/>
                </a:solidFill>
                <a:effectLst/>
                <a:latin typeface="Consolas" panose="020B0609020204030204" pitchFamily="49" charset="0"/>
              </a:rPr>
              <a:t> = </a:t>
            </a:r>
            <a:r>
              <a:rPr lang="en-US" sz="1800" dirty="0">
                <a:solidFill>
                  <a:srgbClr val="008000"/>
                </a:solidFill>
                <a:effectLst/>
                <a:latin typeface="Consolas" panose="020B0609020204030204" pitchFamily="49" charset="0"/>
              </a:rPr>
              <a:t>'</a:t>
            </a:r>
            <a:r>
              <a:rPr lang="en-US" sz="1800" dirty="0" err="1">
                <a:solidFill>
                  <a:srgbClr val="008000"/>
                </a:solidFill>
                <a:effectLst/>
                <a:latin typeface="Consolas" panose="020B0609020204030204" pitchFamily="49" charset="0"/>
              </a:rPr>
              <a:t>bl_dm</a:t>
            </a:r>
            <a:r>
              <a:rPr lang="en-US" sz="1800" dirty="0">
                <a:solidFill>
                  <a:srgbClr val="008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AND</a:t>
            </a:r>
            <a:r>
              <a:rPr lang="en-US" sz="1800" dirty="0">
                <a:solidFill>
                  <a:srgbClr val="000000"/>
                </a:solidFill>
                <a:effectLst/>
                <a:latin typeface="Consolas" panose="020B0609020204030204" pitchFamily="49" charset="0"/>
              </a:rPr>
              <a:t> </a:t>
            </a:r>
            <a:r>
              <a:rPr lang="en-US" sz="1800" i="1" dirty="0" err="1">
                <a:solidFill>
                  <a:srgbClr val="8E00C6"/>
                </a:solidFill>
                <a:effectLst/>
                <a:latin typeface="Consolas" panose="020B0609020204030204" pitchFamily="49" charset="0"/>
              </a:rPr>
              <a:t>parent</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relname</a:t>
            </a:r>
            <a:r>
              <a:rPr lang="en-US" sz="1800" dirty="0">
                <a:solidFill>
                  <a:srgbClr val="000000"/>
                </a:solidFill>
                <a:effectLst/>
                <a:latin typeface="Consolas" panose="020B0609020204030204" pitchFamily="49" charset="0"/>
              </a:rPr>
              <a:t> = </a:t>
            </a:r>
            <a:r>
              <a:rPr lang="en-US" sz="1800" dirty="0">
                <a:solidFill>
                  <a:srgbClr val="008000"/>
                </a:solidFill>
                <a:effectLst/>
                <a:latin typeface="Consolas" panose="020B0609020204030204" pitchFamily="49" charset="0"/>
              </a:rPr>
              <a:t>'</a:t>
            </a:r>
            <a:r>
              <a:rPr lang="en-US" sz="1800" dirty="0" err="1">
                <a:solidFill>
                  <a:srgbClr val="008000"/>
                </a:solidFill>
                <a:effectLst/>
                <a:latin typeface="Consolas" panose="020B0609020204030204" pitchFamily="49" charset="0"/>
              </a:rPr>
              <a:t>fct_bookings_dd</a:t>
            </a:r>
            <a:r>
              <a:rPr lang="en-US" sz="1800" dirty="0">
                <a:solidFill>
                  <a:srgbClr val="008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ORDER</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BY</a:t>
            </a:r>
            <a:r>
              <a:rPr lang="en-US" sz="1800" dirty="0">
                <a:solidFill>
                  <a:srgbClr val="000000"/>
                </a:solidFill>
                <a:effectLst/>
                <a:latin typeface="Consolas" panose="020B0609020204030204" pitchFamily="49" charset="0"/>
              </a:rPr>
              <a:t> </a:t>
            </a:r>
            <a:r>
              <a:rPr lang="en-US" sz="1800" i="1" dirty="0" err="1">
                <a:solidFill>
                  <a:srgbClr val="8E00C6"/>
                </a:solidFill>
                <a:effectLst/>
                <a:latin typeface="Consolas" panose="020B0609020204030204" pitchFamily="49" charset="0"/>
              </a:rPr>
              <a:t>child</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relname</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91229DCC-59D3-4387-BC31-DC8272126700}" type="slidenum">
              <a:rPr lang="en-US" smtClean="0"/>
              <a:t>6</a:t>
            </a:fld>
            <a:endParaRPr lang="en-US"/>
          </a:p>
        </p:txBody>
      </p:sp>
    </p:spTree>
    <p:extLst>
      <p:ext uri="{BB962C8B-B14F-4D97-AF65-F5344CB8AC3E}">
        <p14:creationId xmlns:p14="http://schemas.microsoft.com/office/powerpoint/2010/main" val="21596389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1229DCC-59D3-4387-BC31-DC8272126700}" type="slidenum">
              <a:rPr lang="en-US" smtClean="0"/>
              <a:t>7</a:t>
            </a:fld>
            <a:endParaRPr lang="en-US"/>
          </a:p>
        </p:txBody>
      </p:sp>
    </p:spTree>
    <p:extLst>
      <p:ext uri="{BB962C8B-B14F-4D97-AF65-F5344CB8AC3E}">
        <p14:creationId xmlns:p14="http://schemas.microsoft.com/office/powerpoint/2010/main" val="1551607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endParaRPr lang="en-US" sz="1800" b="1" dirty="0">
              <a:solidFill>
                <a:srgbClr val="8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u="sng" dirty="0" err="1">
                <a:solidFill>
                  <a:srgbClr val="956037"/>
                </a:solidFill>
                <a:effectLst/>
                <a:latin typeface="Consolas" panose="020B0609020204030204" pitchFamily="49" charset="0"/>
              </a:rPr>
              <a:t>bl_cl</a:t>
            </a:r>
            <a:r>
              <a:rPr lang="en-US" sz="1800" u="sng" dirty="0" err="1">
                <a:solidFill>
                  <a:srgbClr val="000000"/>
                </a:solidFill>
                <a:effectLst/>
                <a:latin typeface="Consolas" panose="020B0609020204030204" pitchFamily="49" charset="0"/>
              </a:rPr>
              <a:t>.</a:t>
            </a:r>
            <a:r>
              <a:rPr lang="en-US" sz="1800" u="sng" dirty="0" err="1">
                <a:solidFill>
                  <a:srgbClr val="6C5151"/>
                </a:solidFill>
                <a:effectLst/>
                <a:latin typeface="Consolas" panose="020B0609020204030204" pitchFamily="49" charset="0"/>
              </a:rPr>
              <a:t>pr_load_all_increment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000080"/>
                </a:solidFill>
                <a:effectLst/>
                <a:latin typeface="Consolas" panose="020B0609020204030204" pitchFamily="49" charset="0"/>
              </a:rPr>
              <a:t>DATE</a:t>
            </a:r>
            <a:r>
              <a:rPr lang="en-US" sz="1800" dirty="0">
                <a:solidFill>
                  <a:srgbClr val="000000"/>
                </a:solidFill>
                <a:effectLst/>
                <a:latin typeface="Consolas" panose="020B0609020204030204" pitchFamily="49" charset="0"/>
              </a:rPr>
              <a:t> </a:t>
            </a:r>
            <a:r>
              <a:rPr lang="en-US" sz="1800" dirty="0">
                <a:solidFill>
                  <a:srgbClr val="008000"/>
                </a:solidFill>
                <a:effectLst/>
                <a:latin typeface="Consolas" panose="020B0609020204030204" pitchFamily="49" charset="0"/>
              </a:rPr>
              <a:t>'2027-11-05'</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000080"/>
                </a:solidFill>
                <a:effectLst/>
                <a:latin typeface="Consolas" panose="020B0609020204030204" pitchFamily="49" charset="0"/>
              </a:rPr>
              <a:t>DATE</a:t>
            </a:r>
            <a:r>
              <a:rPr lang="en-US" sz="1800" dirty="0">
                <a:solidFill>
                  <a:srgbClr val="000000"/>
                </a:solidFill>
                <a:effectLst/>
                <a:latin typeface="Consolas" panose="020B0609020204030204" pitchFamily="49" charset="0"/>
              </a:rPr>
              <a:t> </a:t>
            </a:r>
            <a:r>
              <a:rPr lang="en-US" sz="1800" dirty="0">
                <a:solidFill>
                  <a:srgbClr val="008000"/>
                </a:solidFill>
                <a:effectLst/>
                <a:latin typeface="Consolas" panose="020B0609020204030204" pitchFamily="49" charset="0"/>
              </a:rPr>
              <a:t>'2027-11-07'</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800000"/>
                </a:solidFill>
                <a:effectLst/>
                <a:latin typeface="Consolas" panose="020B0609020204030204" pitchFamily="49" charset="0"/>
              </a:rPr>
              <a:t>false</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p>
          <a:p>
            <a:pPr marL="0" marR="0">
              <a:spcBef>
                <a:spcPts val="0"/>
              </a:spcBef>
              <a:spcAft>
                <a:spcPts val="0"/>
              </a:spcAft>
            </a:pPr>
            <a:endParaRPr lang="en-US" sz="1800" dirty="0">
              <a:solidFill>
                <a:srgbClr val="FF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select</a:t>
            </a:r>
            <a:r>
              <a:rPr lang="en-US" sz="1800" dirty="0">
                <a:solidFill>
                  <a:srgbClr val="000000"/>
                </a:solidFill>
                <a:effectLst/>
                <a:latin typeface="Consolas" panose="020B0609020204030204" pitchFamily="49" charset="0"/>
              </a:rPr>
              <a:t> </a:t>
            </a:r>
            <a:r>
              <a:rPr lang="en-US" sz="1800" b="1" dirty="0">
                <a:solidFill>
                  <a:srgbClr val="000080"/>
                </a:solidFill>
                <a:effectLst/>
                <a:latin typeface="Consolas" panose="020B0609020204030204" pitchFamily="49" charset="0"/>
              </a:rPr>
              <a:t>count</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dirty="0">
                <a:solidFill>
                  <a:srgbClr val="956037"/>
                </a:solidFill>
                <a:effectLst/>
                <a:latin typeface="Consolas" panose="020B0609020204030204" pitchFamily="49" charset="0"/>
              </a:rPr>
              <a:t>bl_3nf</a:t>
            </a:r>
            <a:r>
              <a:rPr lang="en-US" sz="1800" dirty="0">
                <a:solidFill>
                  <a:srgbClr val="000000"/>
                </a:solidFill>
                <a:effectLst/>
                <a:latin typeface="Consolas" panose="020B0609020204030204" pitchFamily="49" charset="0"/>
              </a:rPr>
              <a:t>.</a:t>
            </a:r>
            <a:r>
              <a:rPr lang="en-US" sz="1800" dirty="0">
                <a:solidFill>
                  <a:srgbClr val="8E00C6"/>
                </a:solidFill>
                <a:effectLst/>
                <a:latin typeface="Consolas" panose="020B0609020204030204" pitchFamily="49" charset="0"/>
              </a:rPr>
              <a:t>ce_customer_satisfactions</a:t>
            </a:r>
            <a:r>
              <a:rPr lang="en-US" sz="1800" dirty="0">
                <a:solidFill>
                  <a:srgbClr val="000000"/>
                </a:solidFill>
                <a:effectLst/>
                <a:latin typeface="Consolas" panose="020B0609020204030204" pitchFamily="49" charset="0"/>
              </a:rPr>
              <a:t> </a:t>
            </a:r>
            <a:r>
              <a:rPr lang="en-US" sz="1800" i="1" dirty="0">
                <a:solidFill>
                  <a:srgbClr val="8E00C6"/>
                </a:solidFill>
                <a:effectLst/>
                <a:latin typeface="Consolas" panose="020B0609020204030204" pitchFamily="49" charset="0"/>
              </a:rPr>
              <a:t>s</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where</a:t>
            </a:r>
            <a:r>
              <a:rPr lang="en-US" sz="1800" dirty="0">
                <a:solidFill>
                  <a:srgbClr val="000000"/>
                </a:solidFill>
                <a:effectLst/>
                <a:latin typeface="Consolas" panose="020B0609020204030204" pitchFamily="49" charset="0"/>
              </a:rPr>
              <a:t> </a:t>
            </a:r>
            <a:r>
              <a:rPr lang="en-US" sz="1800" dirty="0" err="1">
                <a:solidFill>
                  <a:srgbClr val="006464"/>
                </a:solidFill>
                <a:effectLst/>
                <a:latin typeface="Consolas" panose="020B0609020204030204" pitchFamily="49" charset="0"/>
              </a:rPr>
              <a:t>customer_satisfaction_src_id</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like</a:t>
            </a:r>
            <a:r>
              <a:rPr lang="en-US" sz="1800" dirty="0">
                <a:solidFill>
                  <a:srgbClr val="000000"/>
                </a:solidFill>
                <a:effectLst/>
                <a:latin typeface="Consolas" panose="020B0609020204030204" pitchFamily="49" charset="0"/>
              </a:rPr>
              <a:t> </a:t>
            </a:r>
            <a:r>
              <a:rPr lang="en-US" sz="1800" dirty="0">
                <a:solidFill>
                  <a:srgbClr val="008000"/>
                </a:solidFill>
                <a:effectLst/>
                <a:latin typeface="Consolas" panose="020B0609020204030204" pitchFamily="49" charset="0"/>
              </a:rPr>
              <a:t>'S_INC_%'</a:t>
            </a:r>
            <a:endParaRPr lang="en-US" sz="1800" dirty="0">
              <a:solidFill>
                <a:srgbClr val="000000"/>
              </a:solidFill>
              <a:effectLst/>
              <a:latin typeface="Consolas" panose="020B0609020204030204" pitchFamily="49" charset="0"/>
            </a:endParaRPr>
          </a:p>
          <a:p>
            <a:pPr marL="0" marR="0">
              <a:spcBef>
                <a:spcPts val="0"/>
              </a:spcBef>
              <a:spcAft>
                <a:spcPts val="0"/>
              </a:spcAft>
            </a:pPr>
            <a:br>
              <a:rPr lang="en-US" sz="1800" dirty="0">
                <a:solidFill>
                  <a:srgbClr val="000000"/>
                </a:solidFill>
                <a:effectLst/>
                <a:latin typeface="Consolas" panose="020B0609020204030204" pitchFamily="49" charset="0"/>
              </a:rPr>
            </a:b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select</a:t>
            </a:r>
            <a:r>
              <a:rPr lang="en-US" sz="1800" dirty="0">
                <a:solidFill>
                  <a:srgbClr val="000000"/>
                </a:solidFill>
                <a:effectLst/>
                <a:latin typeface="Consolas" panose="020B0609020204030204" pitchFamily="49" charset="0"/>
              </a:rPr>
              <a:t> * </a:t>
            </a:r>
            <a:r>
              <a:rPr lang="en-US" sz="1800" b="1" dirty="0">
                <a:solidFill>
                  <a:srgbClr val="800000"/>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dirty="0">
                <a:solidFill>
                  <a:srgbClr val="956037"/>
                </a:solidFill>
                <a:effectLst/>
                <a:latin typeface="Consolas" panose="020B0609020204030204" pitchFamily="49" charset="0"/>
              </a:rPr>
              <a:t>bl_3nf</a:t>
            </a:r>
            <a:r>
              <a:rPr lang="en-US" sz="1800" dirty="0">
                <a:solidFill>
                  <a:srgbClr val="000000"/>
                </a:solidFill>
                <a:effectLst/>
                <a:latin typeface="Consolas" panose="020B0609020204030204" pitchFamily="49" charset="0"/>
              </a:rPr>
              <a:t>.</a:t>
            </a:r>
            <a:r>
              <a:rPr lang="en-US" sz="1800" dirty="0">
                <a:solidFill>
                  <a:srgbClr val="8E00C6"/>
                </a:solidFill>
                <a:effectLst/>
                <a:latin typeface="Consolas" panose="020B0609020204030204" pitchFamily="49" charset="0"/>
              </a:rPr>
              <a:t>ce_bookings</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where</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booking_id</a:t>
            </a:r>
            <a:r>
              <a:rPr lang="en-US" sz="1800" dirty="0">
                <a:solidFill>
                  <a:srgbClr val="000000"/>
                </a:solidFill>
                <a:effectLst/>
                <a:latin typeface="Consolas" panose="020B0609020204030204" pitchFamily="49" charset="0"/>
              </a:rPr>
              <a:t>::</a:t>
            </a:r>
            <a:r>
              <a:rPr lang="en-US" sz="1800" b="1" dirty="0">
                <a:solidFill>
                  <a:srgbClr val="000080"/>
                </a:solidFill>
                <a:effectLst/>
                <a:latin typeface="Consolas" panose="020B0609020204030204" pitchFamily="49" charset="0"/>
              </a:rPr>
              <a:t>text</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like</a:t>
            </a:r>
            <a:r>
              <a:rPr lang="en-US" sz="1800" dirty="0">
                <a:solidFill>
                  <a:srgbClr val="000000"/>
                </a:solidFill>
                <a:effectLst/>
                <a:latin typeface="Consolas" panose="020B0609020204030204" pitchFamily="49" charset="0"/>
              </a:rPr>
              <a:t> </a:t>
            </a:r>
            <a:r>
              <a:rPr lang="en-US" sz="1800" dirty="0">
                <a:solidFill>
                  <a:srgbClr val="008000"/>
                </a:solidFill>
                <a:effectLst/>
                <a:latin typeface="Consolas" panose="020B0609020204030204" pitchFamily="49" charset="0"/>
              </a:rPr>
              <a:t>'600%'</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order</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by</a:t>
            </a:r>
            <a:r>
              <a:rPr lang="en-US" sz="1800" dirty="0">
                <a:solidFill>
                  <a:srgbClr val="000000"/>
                </a:solidFill>
                <a:effectLst/>
                <a:latin typeface="Consolas" panose="020B0609020204030204" pitchFamily="49" charset="0"/>
              </a:rPr>
              <a:t> </a:t>
            </a:r>
            <a:r>
              <a:rPr lang="en-US" sz="1800" dirty="0" err="1">
                <a:solidFill>
                  <a:srgbClr val="006464"/>
                </a:solidFill>
                <a:effectLst/>
                <a:latin typeface="Consolas" panose="020B0609020204030204" pitchFamily="49" charset="0"/>
              </a:rPr>
              <a:t>booking_id</a:t>
            </a:r>
            <a:r>
              <a:rPr lang="en-US" sz="1800" dirty="0">
                <a:solidFill>
                  <a:srgbClr val="006464"/>
                </a:solidFill>
                <a:effectLst/>
                <a:latin typeface="Consolas" panose="020B0609020204030204" pitchFamily="49" charset="0"/>
              </a:rPr>
              <a:t> </a:t>
            </a:r>
          </a:p>
          <a:p>
            <a:pPr marL="0" marR="0">
              <a:spcBef>
                <a:spcPts val="0"/>
              </a:spcBef>
              <a:spcAft>
                <a:spcPts val="0"/>
              </a:spcAft>
            </a:pPr>
            <a:endParaRPr lang="en-US" sz="1800" b="1" dirty="0">
              <a:solidFill>
                <a:srgbClr val="8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CREATE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OR</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REPLACE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PROCEDURE</a:t>
            </a:r>
            <a:r>
              <a:rPr lang="en-US" sz="1800" dirty="0">
                <a:solidFill>
                  <a:srgbClr val="000000"/>
                </a:solidFill>
                <a:effectLst/>
                <a:latin typeface="Consolas" panose="020B0609020204030204" pitchFamily="49" charset="0"/>
              </a:rPr>
              <a:t> </a:t>
            </a:r>
            <a:r>
              <a:rPr lang="en-US" sz="1800" dirty="0">
                <a:solidFill>
                  <a:srgbClr val="956037"/>
                </a:solidFill>
                <a:effectLst/>
                <a:latin typeface="Consolas" panose="020B0609020204030204" pitchFamily="49" charset="0"/>
              </a:rPr>
              <a:t>bl_cl</a:t>
            </a:r>
            <a:r>
              <a:rPr lang="en-US" sz="1800" dirty="0">
                <a:solidFill>
                  <a:srgbClr val="000000"/>
                </a:solidFill>
                <a:effectLst/>
                <a:latin typeface="Consolas" panose="020B0609020204030204" pitchFamily="49" charset="0"/>
              </a:rPr>
              <a:t>.</a:t>
            </a:r>
            <a:r>
              <a:rPr lang="en-US" sz="1800" dirty="0">
                <a:solidFill>
                  <a:srgbClr val="8E00C6"/>
                </a:solidFill>
                <a:effectLst/>
                <a:latin typeface="Consolas" panose="020B0609020204030204" pitchFamily="49" charset="0"/>
              </a:rPr>
              <a:t>pr_load_bl_3nf_increment</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6464"/>
                </a:solidFill>
                <a:effectLst/>
                <a:latin typeface="Consolas" panose="020B0609020204030204" pitchFamily="49" charset="0"/>
              </a:rPr>
              <a:t>LANGUAGE</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plpgsql</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b="1"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BEGIN</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bl_cl.pr_load_ce_booking_channels</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bl_cl.pr_load_ce_payment_methods</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bl_cl.pr_load_ce_loyalties</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bl_cl.pr_load_ce_travel_insurances</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bl_cl.pr_load_ce_satisfaction_statuses</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bl_cl.pr_load_ce_travels</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bl_cl.pr_load_ce_customers_scd</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bl_cl.pr_load_ce_bookings</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bl_cl.pr_load_ce_customer_satisfactions</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br>
              <a:rPr lang="en-US" sz="1800" dirty="0">
                <a:solidFill>
                  <a:srgbClr val="000000"/>
                </a:solidFill>
                <a:effectLst/>
                <a:latin typeface="Consolas" panose="020B0609020204030204" pitchFamily="49" charset="0"/>
              </a:rPr>
            </a:b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bl_cl.pr_write_log</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8000"/>
                </a:solidFill>
                <a:effectLst/>
                <a:latin typeface="Consolas" panose="020B0609020204030204" pitchFamily="49" charset="0"/>
              </a:rPr>
              <a:t>'bl_cl.pr_load_bl_3nf_increment'</a:t>
            </a:r>
            <a:r>
              <a:rPr lang="en-US" sz="1800" dirty="0">
                <a:solidFill>
                  <a:srgbClr val="000000"/>
                </a:solidFill>
                <a:effectLst/>
                <a:latin typeface="Consolas" panose="020B0609020204030204" pitchFamily="49" charset="0"/>
              </a:rPr>
              <a:t>, </a:t>
            </a:r>
            <a:r>
              <a:rPr lang="en-US" sz="1800" dirty="0">
                <a:solidFill>
                  <a:srgbClr val="0000FF"/>
                </a:solidFill>
                <a:effectLst/>
                <a:latin typeface="Consolas" panose="020B0609020204030204" pitchFamily="49" charset="0"/>
              </a:rPr>
              <a:t>0</a:t>
            </a:r>
            <a:r>
              <a:rPr lang="en-US" sz="1800" dirty="0">
                <a:solidFill>
                  <a:srgbClr val="000000"/>
                </a:solidFill>
                <a:effectLst/>
                <a:latin typeface="Consolas" panose="020B0609020204030204" pitchFamily="49" charset="0"/>
              </a:rPr>
              <a:t>, </a:t>
            </a:r>
            <a:r>
              <a:rPr lang="en-US" sz="1800" dirty="0">
                <a:solidFill>
                  <a:srgbClr val="008000"/>
                </a:solidFill>
                <a:effectLst/>
                <a:latin typeface="Consolas" panose="020B0609020204030204" pitchFamily="49" charset="0"/>
              </a:rPr>
              <a:t>'SUCCESS'</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8000"/>
                </a:solidFill>
                <a:effectLst/>
                <a:latin typeface="Consolas" panose="020B0609020204030204" pitchFamily="49" charset="0"/>
              </a:rPr>
              <a:t>'All BL_3NF procedures completed in dependency order.'</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EXCEPTION</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WHEN</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OTHERS</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THEN</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bl_cl.pr_write_log</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8000"/>
                </a:solidFill>
                <a:effectLst/>
                <a:latin typeface="Consolas" panose="020B0609020204030204" pitchFamily="49" charset="0"/>
              </a:rPr>
              <a:t>'bl_cl.pr_load_bl_3nf_increment'</a:t>
            </a:r>
            <a:r>
              <a:rPr lang="en-US" sz="1800" dirty="0">
                <a:solidFill>
                  <a:srgbClr val="000000"/>
                </a:solidFill>
                <a:effectLst/>
                <a:latin typeface="Consolas" panose="020B0609020204030204" pitchFamily="49" charset="0"/>
              </a:rPr>
              <a:t>, </a:t>
            </a:r>
            <a:r>
              <a:rPr lang="en-US" sz="1800" dirty="0">
                <a:solidFill>
                  <a:srgbClr val="0000FF"/>
                </a:solidFill>
                <a:effectLst/>
                <a:latin typeface="Consolas" panose="020B0609020204030204" pitchFamily="49" charset="0"/>
              </a:rPr>
              <a:t>0</a:t>
            </a:r>
            <a:r>
              <a:rPr lang="en-US" sz="1800" dirty="0">
                <a:solidFill>
                  <a:srgbClr val="000000"/>
                </a:solidFill>
                <a:effectLst/>
                <a:latin typeface="Consolas" panose="020B0609020204030204" pitchFamily="49" charset="0"/>
              </a:rPr>
              <a:t>, </a:t>
            </a:r>
            <a:r>
              <a:rPr lang="en-US" sz="1800" dirty="0">
                <a:solidFill>
                  <a:srgbClr val="008000"/>
                </a:solidFill>
                <a:effectLst/>
                <a:latin typeface="Consolas" panose="020B0609020204030204" pitchFamily="49" charset="0"/>
              </a:rPr>
              <a:t>'FAILED'</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000080"/>
                </a:solidFill>
                <a:effectLst/>
                <a:latin typeface="Consolas" panose="020B0609020204030204" pitchFamily="49" charset="0"/>
              </a:rPr>
              <a:t>format</a:t>
            </a:r>
            <a:r>
              <a:rPr lang="en-US" sz="1800" dirty="0">
                <a:solidFill>
                  <a:srgbClr val="000000"/>
                </a:solidFill>
                <a:effectLst/>
                <a:latin typeface="Consolas" panose="020B0609020204030204" pitchFamily="49" charset="0"/>
              </a:rPr>
              <a:t>(</a:t>
            </a:r>
            <a:r>
              <a:rPr lang="en-US" sz="1800" dirty="0">
                <a:solidFill>
                  <a:srgbClr val="008000"/>
                </a:solidFill>
                <a:effectLst/>
                <a:latin typeface="Consolas" panose="020B0609020204030204" pitchFamily="49" charset="0"/>
              </a:rPr>
              <a:t>'SQLSTATE=%s; %s'</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SQLSTATE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SQLERRM</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RAISE</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END</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FF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br>
              <a:rPr lang="en-US" sz="1800" dirty="0">
                <a:solidFill>
                  <a:srgbClr val="000000"/>
                </a:solidFill>
                <a:effectLst/>
                <a:latin typeface="Consolas" panose="020B0609020204030204" pitchFamily="49" charset="0"/>
              </a:rPr>
            </a:b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CREATE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OR</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REPLACE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PROCEDURE</a:t>
            </a:r>
            <a:r>
              <a:rPr lang="en-US" sz="1800" dirty="0">
                <a:solidFill>
                  <a:srgbClr val="000000"/>
                </a:solidFill>
                <a:effectLst/>
                <a:latin typeface="Consolas" panose="020B0609020204030204" pitchFamily="49" charset="0"/>
              </a:rPr>
              <a:t> </a:t>
            </a:r>
            <a:r>
              <a:rPr lang="en-US" sz="1800" dirty="0" err="1">
                <a:solidFill>
                  <a:srgbClr val="956037"/>
                </a:solidFill>
                <a:effectLst/>
                <a:latin typeface="Consolas" panose="020B0609020204030204" pitchFamily="49" charset="0"/>
              </a:rPr>
              <a:t>bl_cl</a:t>
            </a:r>
            <a:r>
              <a:rPr lang="en-US" sz="1800" dirty="0" err="1">
                <a:solidFill>
                  <a:srgbClr val="000000"/>
                </a:solidFill>
                <a:effectLst/>
                <a:latin typeface="Consolas" panose="020B0609020204030204" pitchFamily="49" charset="0"/>
              </a:rPr>
              <a:t>.</a:t>
            </a:r>
            <a:r>
              <a:rPr lang="en-US" sz="1800" dirty="0" err="1">
                <a:solidFill>
                  <a:srgbClr val="8E00C6"/>
                </a:solidFill>
                <a:effectLst/>
                <a:latin typeface="Consolas" panose="020B0609020204030204" pitchFamily="49" charset="0"/>
              </a:rPr>
              <a:t>pr_load_bl_dm_increment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err="1">
                <a:solidFill>
                  <a:srgbClr val="006464"/>
                </a:solidFill>
                <a:effectLst/>
                <a:latin typeface="Consolas" panose="020B0609020204030204" pitchFamily="49" charset="0"/>
              </a:rPr>
              <a:t>p_from_date</a:t>
            </a:r>
            <a:r>
              <a:rPr lang="en-US" sz="1800" dirty="0">
                <a:solidFill>
                  <a:srgbClr val="000000"/>
                </a:solidFill>
                <a:effectLst/>
                <a:latin typeface="Consolas" panose="020B0609020204030204" pitchFamily="49" charset="0"/>
              </a:rPr>
              <a:t> </a:t>
            </a:r>
            <a:r>
              <a:rPr lang="en-US" sz="1800" b="1" dirty="0">
                <a:solidFill>
                  <a:srgbClr val="000080"/>
                </a:solidFill>
                <a:effectLst/>
                <a:latin typeface="Consolas" panose="020B0609020204030204" pitchFamily="49" charset="0"/>
              </a:rPr>
              <a:t>DATE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DEFAULT</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NULL</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err="1">
                <a:solidFill>
                  <a:srgbClr val="006464"/>
                </a:solidFill>
                <a:effectLst/>
                <a:latin typeface="Consolas" panose="020B0609020204030204" pitchFamily="49" charset="0"/>
              </a:rPr>
              <a:t>p_to_date</a:t>
            </a:r>
            <a:r>
              <a:rPr lang="en-US" sz="1800" dirty="0">
                <a:solidFill>
                  <a:srgbClr val="000000"/>
                </a:solidFill>
                <a:effectLst/>
                <a:latin typeface="Consolas" panose="020B0609020204030204" pitchFamily="49" charset="0"/>
              </a:rPr>
              <a:t> </a:t>
            </a:r>
            <a:r>
              <a:rPr lang="en-US" sz="1800" b="1" dirty="0">
                <a:solidFill>
                  <a:srgbClr val="000080"/>
                </a:solidFill>
                <a:effectLst/>
                <a:latin typeface="Consolas" panose="020B0609020204030204" pitchFamily="49" charset="0"/>
              </a:rPr>
              <a:t>DATE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DEFAULT</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NULL</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800000"/>
                </a:solidFill>
                <a:effectLst/>
                <a:latin typeface="Consolas" panose="020B0609020204030204" pitchFamily="49" charset="0"/>
              </a:rPr>
              <a:t>LANGUAGE</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plpgsql</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b="1"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BEGIN</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bl_cl.pr_load_dim_booking_channels</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bl_cl.pr_load_dim_payment_methods</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bl_cl.pr_load_dim_loyalties</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bl_cl.pr_load_dim_travel_insurances</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bl_cl.pr_load_dim_satisfaction_statuses</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bl_cl.pr_load_dim_travels</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bl_cl.pr_load_dim_customers_scd</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br>
              <a:rPr lang="en-US" sz="1800" dirty="0">
                <a:solidFill>
                  <a:srgbClr val="000000"/>
                </a:solidFill>
                <a:effectLst/>
                <a:latin typeface="Consolas" panose="020B0609020204030204" pitchFamily="49" charset="0"/>
              </a:rPr>
            </a:b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808080"/>
                </a:solidFill>
                <a:effectLst/>
                <a:latin typeface="Consolas" panose="020B0609020204030204" pitchFamily="49" charset="0"/>
              </a:rPr>
              <a:t>/* Keep the existing </a:t>
            </a:r>
            <a:r>
              <a:rPr lang="en-US" sz="1800" dirty="0" err="1">
                <a:solidFill>
                  <a:srgbClr val="808080"/>
                </a:solidFill>
                <a:effectLst/>
                <a:latin typeface="Consolas" panose="020B0609020204030204" pitchFamily="49" charset="0"/>
              </a:rPr>
              <a:t>restartable</a:t>
            </a:r>
            <a:r>
              <a:rPr lang="en-US" sz="1800" dirty="0">
                <a:solidFill>
                  <a:srgbClr val="808080"/>
                </a:solidFill>
                <a:effectLst/>
                <a:latin typeface="Consolas" panose="020B0609020204030204" pitchFamily="49" charset="0"/>
              </a:rPr>
              <a:t> time-dimension procedure. */</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bl_cl.pr_load_dim_time_day</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br>
              <a:rPr lang="en-US" sz="1800" dirty="0">
                <a:solidFill>
                  <a:srgbClr val="000000"/>
                </a:solidFill>
                <a:effectLst/>
                <a:latin typeface="Consolas" panose="020B0609020204030204" pitchFamily="49" charset="0"/>
              </a:rPr>
            </a:b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bl_cl.pr_load_fct_bookings_dd</a:t>
            </a:r>
            <a:r>
              <a:rPr lang="en-US" sz="1800" dirty="0">
                <a:solidFill>
                  <a:srgbClr val="000000"/>
                </a:solidFill>
                <a:effectLst/>
                <a:latin typeface="Consolas" panose="020B0609020204030204" pitchFamily="49" charset="0"/>
              </a:rPr>
              <a:t>(</a:t>
            </a:r>
            <a:r>
              <a:rPr lang="en-US" sz="1800" dirty="0" err="1">
                <a:solidFill>
                  <a:srgbClr val="000000"/>
                </a:solidFill>
                <a:effectLst/>
                <a:latin typeface="Consolas" panose="020B0609020204030204" pitchFamily="49" charset="0"/>
              </a:rPr>
              <a:t>p_from_date</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p_to_date</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bl_cl.pr_load_fct_customer_satisfactions_dd</a:t>
            </a:r>
            <a:r>
              <a:rPr lang="en-US" sz="1800" dirty="0">
                <a:solidFill>
                  <a:srgbClr val="000000"/>
                </a:solidFill>
                <a:effectLst/>
                <a:latin typeface="Consolas" panose="020B0609020204030204" pitchFamily="49" charset="0"/>
              </a:rPr>
              <a:t>(</a:t>
            </a:r>
            <a:r>
              <a:rPr lang="en-US" sz="1800" dirty="0" err="1">
                <a:solidFill>
                  <a:srgbClr val="000000"/>
                </a:solidFill>
                <a:effectLst/>
                <a:latin typeface="Consolas" panose="020B0609020204030204" pitchFamily="49" charset="0"/>
              </a:rPr>
              <a:t>p_from_date</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p_to_date</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br>
              <a:rPr lang="en-US" sz="1800" dirty="0">
                <a:solidFill>
                  <a:srgbClr val="000000"/>
                </a:solidFill>
                <a:effectLst/>
                <a:latin typeface="Consolas" panose="020B0609020204030204" pitchFamily="49" charset="0"/>
              </a:rPr>
            </a:b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bl_cl.pr_write_log</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8000"/>
                </a:solidFill>
                <a:effectLst/>
                <a:latin typeface="Consolas" panose="020B0609020204030204" pitchFamily="49" charset="0"/>
              </a:rPr>
              <a:t>'</a:t>
            </a:r>
            <a:r>
              <a:rPr lang="en-US" sz="1800" dirty="0" err="1">
                <a:solidFill>
                  <a:srgbClr val="008000"/>
                </a:solidFill>
                <a:effectLst/>
                <a:latin typeface="Consolas" panose="020B0609020204030204" pitchFamily="49" charset="0"/>
              </a:rPr>
              <a:t>bl_cl.pr_load_bl_dm_increment</a:t>
            </a:r>
            <a:r>
              <a:rPr lang="en-US" sz="1800" dirty="0">
                <a:solidFill>
                  <a:srgbClr val="008000"/>
                </a:solidFill>
                <a:effectLst/>
                <a:latin typeface="Consolas" panose="020B0609020204030204" pitchFamily="49" charset="0"/>
              </a:rPr>
              <a:t>'</a:t>
            </a:r>
            <a:r>
              <a:rPr lang="en-US" sz="1800" dirty="0">
                <a:solidFill>
                  <a:srgbClr val="000000"/>
                </a:solidFill>
                <a:effectLst/>
                <a:latin typeface="Consolas" panose="020B0609020204030204" pitchFamily="49" charset="0"/>
              </a:rPr>
              <a:t>, </a:t>
            </a:r>
            <a:r>
              <a:rPr lang="en-US" sz="1800" dirty="0">
                <a:solidFill>
                  <a:srgbClr val="0000FF"/>
                </a:solidFill>
                <a:effectLst/>
                <a:latin typeface="Consolas" panose="020B0609020204030204" pitchFamily="49" charset="0"/>
              </a:rPr>
              <a:t>0</a:t>
            </a:r>
            <a:r>
              <a:rPr lang="en-US" sz="1800" dirty="0">
                <a:solidFill>
                  <a:srgbClr val="000000"/>
                </a:solidFill>
                <a:effectLst/>
                <a:latin typeface="Consolas" panose="020B0609020204030204" pitchFamily="49" charset="0"/>
              </a:rPr>
              <a:t>, </a:t>
            </a:r>
            <a:r>
              <a:rPr lang="en-US" sz="1800" dirty="0">
                <a:solidFill>
                  <a:srgbClr val="008000"/>
                </a:solidFill>
                <a:effectLst/>
                <a:latin typeface="Consolas" panose="020B0609020204030204" pitchFamily="49" charset="0"/>
              </a:rPr>
              <a:t>'SUCCESS'</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8000"/>
                </a:solidFill>
                <a:effectLst/>
                <a:latin typeface="Consolas" panose="020B0609020204030204" pitchFamily="49" charset="0"/>
              </a:rPr>
              <a:t>'All BL_DM procedures completed in dependency order.'</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EXCEPTION</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WHEN</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OTHERS</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THEN</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bl_cl.pr_write_log</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8000"/>
                </a:solidFill>
                <a:effectLst/>
                <a:latin typeface="Consolas" panose="020B0609020204030204" pitchFamily="49" charset="0"/>
              </a:rPr>
              <a:t>'</a:t>
            </a:r>
            <a:r>
              <a:rPr lang="en-US" sz="1800" dirty="0" err="1">
                <a:solidFill>
                  <a:srgbClr val="008000"/>
                </a:solidFill>
                <a:effectLst/>
                <a:latin typeface="Consolas" panose="020B0609020204030204" pitchFamily="49" charset="0"/>
              </a:rPr>
              <a:t>bl_cl.pr_load_bl_dm_increment</a:t>
            </a:r>
            <a:r>
              <a:rPr lang="en-US" sz="1800" dirty="0">
                <a:solidFill>
                  <a:srgbClr val="008000"/>
                </a:solidFill>
                <a:effectLst/>
                <a:latin typeface="Consolas" panose="020B0609020204030204" pitchFamily="49" charset="0"/>
              </a:rPr>
              <a:t>'</a:t>
            </a:r>
            <a:r>
              <a:rPr lang="en-US" sz="1800" dirty="0">
                <a:solidFill>
                  <a:srgbClr val="000000"/>
                </a:solidFill>
                <a:effectLst/>
                <a:latin typeface="Consolas" panose="020B0609020204030204" pitchFamily="49" charset="0"/>
              </a:rPr>
              <a:t>, </a:t>
            </a:r>
            <a:r>
              <a:rPr lang="en-US" sz="1800" dirty="0">
                <a:solidFill>
                  <a:srgbClr val="0000FF"/>
                </a:solidFill>
                <a:effectLst/>
                <a:latin typeface="Consolas" panose="020B0609020204030204" pitchFamily="49" charset="0"/>
              </a:rPr>
              <a:t>0</a:t>
            </a:r>
            <a:r>
              <a:rPr lang="en-US" sz="1800" dirty="0">
                <a:solidFill>
                  <a:srgbClr val="000000"/>
                </a:solidFill>
                <a:effectLst/>
                <a:latin typeface="Consolas" panose="020B0609020204030204" pitchFamily="49" charset="0"/>
              </a:rPr>
              <a:t>, </a:t>
            </a:r>
            <a:r>
              <a:rPr lang="en-US" sz="1800" dirty="0">
                <a:solidFill>
                  <a:srgbClr val="008000"/>
                </a:solidFill>
                <a:effectLst/>
                <a:latin typeface="Consolas" panose="020B0609020204030204" pitchFamily="49" charset="0"/>
              </a:rPr>
              <a:t>'FAILED'</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000080"/>
                </a:solidFill>
                <a:effectLst/>
                <a:latin typeface="Consolas" panose="020B0609020204030204" pitchFamily="49" charset="0"/>
              </a:rPr>
              <a:t>format</a:t>
            </a:r>
            <a:r>
              <a:rPr lang="en-US" sz="1800" dirty="0">
                <a:solidFill>
                  <a:srgbClr val="000000"/>
                </a:solidFill>
                <a:effectLst/>
                <a:latin typeface="Consolas" panose="020B0609020204030204" pitchFamily="49" charset="0"/>
              </a:rPr>
              <a:t>(</a:t>
            </a:r>
            <a:r>
              <a:rPr lang="en-US" sz="1800" dirty="0">
                <a:solidFill>
                  <a:srgbClr val="008000"/>
                </a:solidFill>
                <a:effectLst/>
                <a:latin typeface="Consolas" panose="020B0609020204030204" pitchFamily="49" charset="0"/>
              </a:rPr>
              <a:t>'SQLSTATE=%s; %s'</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SQLSTATE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SQLERRM</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RAISE</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END</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FF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br>
              <a:rPr lang="en-US" sz="1800" dirty="0">
                <a:solidFill>
                  <a:srgbClr val="000000"/>
                </a:solidFill>
                <a:effectLst/>
                <a:latin typeface="Consolas" panose="020B0609020204030204" pitchFamily="49" charset="0"/>
              </a:rPr>
            </a:b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CREATE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OR</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REPLACE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PROCEDURE</a:t>
            </a:r>
            <a:r>
              <a:rPr lang="en-US" sz="1800" dirty="0">
                <a:solidFill>
                  <a:srgbClr val="000000"/>
                </a:solidFill>
                <a:effectLst/>
                <a:latin typeface="Consolas" panose="020B0609020204030204" pitchFamily="49" charset="0"/>
              </a:rPr>
              <a:t> </a:t>
            </a:r>
            <a:r>
              <a:rPr lang="en-US" sz="1800" dirty="0" err="1">
                <a:solidFill>
                  <a:srgbClr val="956037"/>
                </a:solidFill>
                <a:effectLst/>
                <a:latin typeface="Consolas" panose="020B0609020204030204" pitchFamily="49" charset="0"/>
              </a:rPr>
              <a:t>bl_cl</a:t>
            </a:r>
            <a:r>
              <a:rPr lang="en-US" sz="1800" dirty="0" err="1">
                <a:solidFill>
                  <a:srgbClr val="000000"/>
                </a:solidFill>
                <a:effectLst/>
                <a:latin typeface="Consolas" panose="020B0609020204030204" pitchFamily="49" charset="0"/>
              </a:rPr>
              <a:t>.</a:t>
            </a:r>
            <a:r>
              <a:rPr lang="en-US" sz="1800" dirty="0" err="1">
                <a:solidFill>
                  <a:srgbClr val="8E00C6"/>
                </a:solidFill>
                <a:effectLst/>
                <a:latin typeface="Consolas" panose="020B0609020204030204" pitchFamily="49" charset="0"/>
              </a:rPr>
              <a:t>pr_load_all_increment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err="1">
                <a:solidFill>
                  <a:srgbClr val="006464"/>
                </a:solidFill>
                <a:effectLst/>
                <a:latin typeface="Consolas" panose="020B0609020204030204" pitchFamily="49" charset="0"/>
              </a:rPr>
              <a:t>p_from_date</a:t>
            </a:r>
            <a:r>
              <a:rPr lang="en-US" sz="1800" dirty="0">
                <a:solidFill>
                  <a:srgbClr val="000000"/>
                </a:solidFill>
                <a:effectLst/>
                <a:latin typeface="Consolas" panose="020B0609020204030204" pitchFamily="49" charset="0"/>
              </a:rPr>
              <a:t> </a:t>
            </a:r>
            <a:r>
              <a:rPr lang="en-US" sz="1800" b="1" dirty="0">
                <a:solidFill>
                  <a:srgbClr val="000080"/>
                </a:solidFill>
                <a:effectLst/>
                <a:latin typeface="Consolas" panose="020B0609020204030204" pitchFamily="49" charset="0"/>
              </a:rPr>
              <a:t>DATE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DEFAULT</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NULL</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err="1">
                <a:solidFill>
                  <a:srgbClr val="006464"/>
                </a:solidFill>
                <a:effectLst/>
                <a:latin typeface="Consolas" panose="020B0609020204030204" pitchFamily="49" charset="0"/>
              </a:rPr>
              <a:t>p_to_date</a:t>
            </a:r>
            <a:r>
              <a:rPr lang="en-US" sz="1800" dirty="0">
                <a:solidFill>
                  <a:srgbClr val="000000"/>
                </a:solidFill>
                <a:effectLst/>
                <a:latin typeface="Consolas" panose="020B0609020204030204" pitchFamily="49" charset="0"/>
              </a:rPr>
              <a:t> </a:t>
            </a:r>
            <a:r>
              <a:rPr lang="en-US" sz="1800" b="1" dirty="0">
                <a:solidFill>
                  <a:srgbClr val="000080"/>
                </a:solidFill>
                <a:effectLst/>
                <a:latin typeface="Consolas" panose="020B0609020204030204" pitchFamily="49" charset="0"/>
              </a:rPr>
              <a:t>DATE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DEFAULT</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NULL</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err="1">
                <a:solidFill>
                  <a:srgbClr val="006464"/>
                </a:solidFill>
                <a:effectLst/>
                <a:latin typeface="Consolas" panose="020B0609020204030204" pitchFamily="49" charset="0"/>
              </a:rPr>
              <a:t>p_run_tests</a:t>
            </a:r>
            <a:r>
              <a:rPr lang="en-US" sz="1800" dirty="0">
                <a:solidFill>
                  <a:srgbClr val="000000"/>
                </a:solidFill>
                <a:effectLst/>
                <a:latin typeface="Consolas" panose="020B0609020204030204" pitchFamily="49" charset="0"/>
              </a:rPr>
              <a:t> </a:t>
            </a:r>
            <a:r>
              <a:rPr lang="en-US" sz="1800" b="1" dirty="0">
                <a:solidFill>
                  <a:srgbClr val="000080"/>
                </a:solidFill>
                <a:effectLst/>
                <a:latin typeface="Consolas" panose="020B0609020204030204" pitchFamily="49" charset="0"/>
              </a:rPr>
              <a:t>BOOLEAN</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DEFAULT</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TRUE</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800000"/>
                </a:solidFill>
                <a:effectLst/>
                <a:latin typeface="Consolas" panose="020B0609020204030204" pitchFamily="49" charset="0"/>
              </a:rPr>
              <a:t>LANGUAGE</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plpgsql</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b="1"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BEGIN</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bl_cl.pr_load_bl_3nf_increment()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bl_cl.pr_load_bl_dm_increment</a:t>
            </a:r>
            <a:r>
              <a:rPr lang="en-US" sz="1800" dirty="0">
                <a:solidFill>
                  <a:srgbClr val="000000"/>
                </a:solidFill>
                <a:effectLst/>
                <a:latin typeface="Consolas" panose="020B0609020204030204" pitchFamily="49" charset="0"/>
              </a:rPr>
              <a:t>(</a:t>
            </a:r>
            <a:r>
              <a:rPr lang="en-US" sz="1800" dirty="0" err="1">
                <a:solidFill>
                  <a:srgbClr val="000000"/>
                </a:solidFill>
                <a:effectLst/>
                <a:latin typeface="Consolas" panose="020B0609020204030204" pitchFamily="49" charset="0"/>
              </a:rPr>
              <a:t>p_from_date</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p_to_date</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br>
              <a:rPr lang="en-US" sz="1800" dirty="0">
                <a:solidFill>
                  <a:srgbClr val="000000"/>
                </a:solidFill>
                <a:effectLst/>
                <a:latin typeface="Consolas" panose="020B0609020204030204" pitchFamily="49" charset="0"/>
              </a:rPr>
            </a:b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IF</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p_run_tests</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THEN</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bl_cl.pr_run_data_quality_tests</a:t>
            </a: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END</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IF</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br>
              <a:rPr lang="en-US" sz="1800" dirty="0">
                <a:solidFill>
                  <a:srgbClr val="000000"/>
                </a:solidFill>
                <a:effectLst/>
                <a:latin typeface="Consolas" panose="020B0609020204030204" pitchFamily="49" charset="0"/>
              </a:rPr>
            </a:b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bl_cl.pr_write_log</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8000"/>
                </a:solidFill>
                <a:effectLst/>
                <a:latin typeface="Consolas" panose="020B0609020204030204" pitchFamily="49" charset="0"/>
              </a:rPr>
              <a:t>'</a:t>
            </a:r>
            <a:r>
              <a:rPr lang="en-US" sz="1800" dirty="0" err="1">
                <a:solidFill>
                  <a:srgbClr val="008000"/>
                </a:solidFill>
                <a:effectLst/>
                <a:latin typeface="Consolas" panose="020B0609020204030204" pitchFamily="49" charset="0"/>
              </a:rPr>
              <a:t>bl_cl.pr_load_all_increment</a:t>
            </a:r>
            <a:r>
              <a:rPr lang="en-US" sz="1800" dirty="0">
                <a:solidFill>
                  <a:srgbClr val="008000"/>
                </a:solidFill>
                <a:effectLst/>
                <a:latin typeface="Consolas" panose="020B0609020204030204" pitchFamily="49" charset="0"/>
              </a:rPr>
              <a:t>'</a:t>
            </a:r>
            <a:r>
              <a:rPr lang="en-US" sz="1800" dirty="0">
                <a:solidFill>
                  <a:srgbClr val="000000"/>
                </a:solidFill>
                <a:effectLst/>
                <a:latin typeface="Consolas" panose="020B0609020204030204" pitchFamily="49" charset="0"/>
              </a:rPr>
              <a:t>, </a:t>
            </a:r>
            <a:r>
              <a:rPr lang="en-US" sz="1800" dirty="0">
                <a:solidFill>
                  <a:srgbClr val="0000FF"/>
                </a:solidFill>
                <a:effectLst/>
                <a:latin typeface="Consolas" panose="020B0609020204030204" pitchFamily="49" charset="0"/>
              </a:rPr>
              <a:t>0</a:t>
            </a:r>
            <a:r>
              <a:rPr lang="en-US" sz="1800" dirty="0">
                <a:solidFill>
                  <a:srgbClr val="000000"/>
                </a:solidFill>
                <a:effectLst/>
                <a:latin typeface="Consolas" panose="020B0609020204030204" pitchFamily="49" charset="0"/>
              </a:rPr>
              <a:t>, </a:t>
            </a:r>
            <a:r>
              <a:rPr lang="en-US" sz="1800" dirty="0">
                <a:solidFill>
                  <a:srgbClr val="008000"/>
                </a:solidFill>
                <a:effectLst/>
                <a:latin typeface="Consolas" panose="020B0609020204030204" pitchFamily="49" charset="0"/>
              </a:rPr>
              <a:t>'SUCCESS'</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8000"/>
                </a:solidFill>
                <a:effectLst/>
                <a:latin typeface="Consolas" panose="020B0609020204030204" pitchFamily="49" charset="0"/>
              </a:rPr>
              <a:t>'Complete incremental DWH load finished successfully.'</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EXCEPTION</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WHEN</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OTHERS</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THEN</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dirty="0" err="1">
                <a:solidFill>
                  <a:srgbClr val="000000"/>
                </a:solidFill>
                <a:effectLst/>
                <a:latin typeface="Consolas" panose="020B0609020204030204" pitchFamily="49" charset="0"/>
              </a:rPr>
              <a:t>bl_cl.pr_write_log</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8000"/>
                </a:solidFill>
                <a:effectLst/>
                <a:latin typeface="Consolas" panose="020B0609020204030204" pitchFamily="49" charset="0"/>
              </a:rPr>
              <a:t>'</a:t>
            </a:r>
            <a:r>
              <a:rPr lang="en-US" sz="1800" dirty="0" err="1">
                <a:solidFill>
                  <a:srgbClr val="008000"/>
                </a:solidFill>
                <a:effectLst/>
                <a:latin typeface="Consolas" panose="020B0609020204030204" pitchFamily="49" charset="0"/>
              </a:rPr>
              <a:t>bl_cl.pr_load_all_increment</a:t>
            </a:r>
            <a:r>
              <a:rPr lang="en-US" sz="1800" dirty="0">
                <a:solidFill>
                  <a:srgbClr val="008000"/>
                </a:solidFill>
                <a:effectLst/>
                <a:latin typeface="Consolas" panose="020B0609020204030204" pitchFamily="49" charset="0"/>
              </a:rPr>
              <a:t>'</a:t>
            </a:r>
            <a:r>
              <a:rPr lang="en-US" sz="1800" dirty="0">
                <a:solidFill>
                  <a:srgbClr val="000000"/>
                </a:solidFill>
                <a:effectLst/>
                <a:latin typeface="Consolas" panose="020B0609020204030204" pitchFamily="49" charset="0"/>
              </a:rPr>
              <a:t>, </a:t>
            </a:r>
            <a:r>
              <a:rPr lang="en-US" sz="1800" dirty="0">
                <a:solidFill>
                  <a:srgbClr val="0000FF"/>
                </a:solidFill>
                <a:effectLst/>
                <a:latin typeface="Consolas" panose="020B0609020204030204" pitchFamily="49" charset="0"/>
              </a:rPr>
              <a:t>0</a:t>
            </a:r>
            <a:r>
              <a:rPr lang="en-US" sz="1800" dirty="0">
                <a:solidFill>
                  <a:srgbClr val="000000"/>
                </a:solidFill>
                <a:effectLst/>
                <a:latin typeface="Consolas" panose="020B0609020204030204" pitchFamily="49" charset="0"/>
              </a:rPr>
              <a:t>, </a:t>
            </a:r>
            <a:r>
              <a:rPr lang="en-US" sz="1800" dirty="0">
                <a:solidFill>
                  <a:srgbClr val="008000"/>
                </a:solidFill>
                <a:effectLst/>
                <a:latin typeface="Consolas" panose="020B0609020204030204" pitchFamily="49" charset="0"/>
              </a:rPr>
              <a:t>'FAILED'</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000080"/>
                </a:solidFill>
                <a:effectLst/>
                <a:latin typeface="Consolas" panose="020B0609020204030204" pitchFamily="49" charset="0"/>
              </a:rPr>
              <a:t>format</a:t>
            </a:r>
            <a:r>
              <a:rPr lang="en-US" sz="1800" dirty="0">
                <a:solidFill>
                  <a:srgbClr val="000000"/>
                </a:solidFill>
                <a:effectLst/>
                <a:latin typeface="Consolas" panose="020B0609020204030204" pitchFamily="49" charset="0"/>
              </a:rPr>
              <a:t>(</a:t>
            </a:r>
            <a:r>
              <a:rPr lang="en-US" sz="1800" dirty="0">
                <a:solidFill>
                  <a:srgbClr val="008000"/>
                </a:solidFill>
                <a:effectLst/>
                <a:latin typeface="Consolas" panose="020B0609020204030204" pitchFamily="49" charset="0"/>
              </a:rPr>
              <a:t>'SQLSTATE=%s; %s'</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SQLSTATE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SQLERRM</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RAISE</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END</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FF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91229DCC-59D3-4387-BC31-DC8272126700}" type="slidenum">
              <a:rPr lang="en-US" smtClean="0"/>
              <a:t>8</a:t>
            </a:fld>
            <a:endParaRPr lang="en-US"/>
          </a:p>
        </p:txBody>
      </p:sp>
    </p:spTree>
    <p:extLst>
      <p:ext uri="{BB962C8B-B14F-4D97-AF65-F5344CB8AC3E}">
        <p14:creationId xmlns:p14="http://schemas.microsoft.com/office/powerpoint/2010/main" val="30506641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solidFill>
                  <a:srgbClr val="800000"/>
                </a:solidFill>
                <a:effectLst/>
                <a:latin typeface="Consolas" panose="020B0609020204030204" pitchFamily="49" charset="0"/>
              </a:rPr>
              <a:t>select</a:t>
            </a:r>
            <a:r>
              <a:rPr lang="en-US" sz="1800" dirty="0">
                <a:solidFill>
                  <a:srgbClr val="000000"/>
                </a:solidFill>
                <a:effectLst/>
                <a:latin typeface="Consolas" panose="020B0609020204030204" pitchFamily="49" charset="0"/>
              </a:rPr>
              <a:t> </a:t>
            </a:r>
            <a:r>
              <a:rPr lang="en-US" sz="1800" dirty="0" err="1">
                <a:solidFill>
                  <a:srgbClr val="006464"/>
                </a:solidFill>
                <a:effectLst/>
                <a:latin typeface="Consolas" panose="020B0609020204030204" pitchFamily="49" charset="0"/>
              </a:rPr>
              <a:t>customer_satisfaction_src_id</a:t>
            </a:r>
            <a:r>
              <a:rPr lang="en-US" sz="1800" dirty="0">
                <a:solidFill>
                  <a:srgbClr val="000000"/>
                </a:solidFill>
                <a:effectLst/>
                <a:latin typeface="Consolas" panose="020B0609020204030204" pitchFamily="49" charset="0"/>
              </a:rPr>
              <a:t>, </a:t>
            </a:r>
            <a:r>
              <a:rPr lang="en-US" sz="1800" dirty="0" err="1">
                <a:solidFill>
                  <a:srgbClr val="006464"/>
                </a:solidFill>
                <a:effectLst/>
                <a:latin typeface="Consolas" panose="020B0609020204030204" pitchFamily="49" charset="0"/>
              </a:rPr>
              <a:t>on_board_service</a:t>
            </a:r>
            <a:r>
              <a:rPr lang="en-US" sz="1800" dirty="0">
                <a:solidFill>
                  <a:srgbClr val="000000"/>
                </a:solidFill>
                <a:effectLst/>
                <a:latin typeface="Consolas" panose="020B0609020204030204" pitchFamily="49" charset="0"/>
              </a:rPr>
              <a:t>, </a:t>
            </a:r>
            <a:r>
              <a:rPr lang="en-US" sz="1800" i="1" dirty="0">
                <a:solidFill>
                  <a:srgbClr val="8E00C6"/>
                </a:solidFill>
                <a:effectLst/>
                <a:latin typeface="Consolas" panose="020B0609020204030204" pitchFamily="49" charset="0"/>
              </a:rPr>
              <a:t>s</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dirty="0">
                <a:solidFill>
                  <a:srgbClr val="956037"/>
                </a:solidFill>
                <a:effectLst/>
                <a:latin typeface="Consolas" panose="020B0609020204030204" pitchFamily="49" charset="0"/>
              </a:rPr>
              <a:t>bl_3nf</a:t>
            </a:r>
            <a:r>
              <a:rPr lang="en-US" sz="1800" dirty="0">
                <a:solidFill>
                  <a:srgbClr val="000000"/>
                </a:solidFill>
                <a:effectLst/>
                <a:latin typeface="Consolas" panose="020B0609020204030204" pitchFamily="49" charset="0"/>
              </a:rPr>
              <a:t>.</a:t>
            </a:r>
            <a:r>
              <a:rPr lang="en-US" sz="1800" dirty="0">
                <a:solidFill>
                  <a:srgbClr val="8E00C6"/>
                </a:solidFill>
                <a:effectLst/>
                <a:latin typeface="Consolas" panose="020B0609020204030204" pitchFamily="49" charset="0"/>
              </a:rPr>
              <a:t>ce_customer_satisfactions</a:t>
            </a:r>
            <a:r>
              <a:rPr lang="en-US" sz="1800" dirty="0">
                <a:solidFill>
                  <a:srgbClr val="000000"/>
                </a:solidFill>
                <a:effectLst/>
                <a:latin typeface="Consolas" panose="020B0609020204030204" pitchFamily="49" charset="0"/>
              </a:rPr>
              <a:t> </a:t>
            </a:r>
            <a:r>
              <a:rPr lang="en-US" sz="1800" i="1" dirty="0">
                <a:solidFill>
                  <a:srgbClr val="8E00C6"/>
                </a:solidFill>
                <a:effectLst/>
                <a:latin typeface="Consolas" panose="020B0609020204030204" pitchFamily="49" charset="0"/>
              </a:rPr>
              <a:t>s</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where</a:t>
            </a:r>
            <a:r>
              <a:rPr lang="en-US" sz="1800" dirty="0">
                <a:solidFill>
                  <a:srgbClr val="000000"/>
                </a:solidFill>
                <a:effectLst/>
                <a:latin typeface="Consolas" panose="020B0609020204030204" pitchFamily="49" charset="0"/>
              </a:rPr>
              <a:t> </a:t>
            </a:r>
            <a:r>
              <a:rPr lang="en-US" sz="1800" dirty="0" err="1">
                <a:solidFill>
                  <a:srgbClr val="006464"/>
                </a:solidFill>
                <a:effectLst/>
                <a:latin typeface="Consolas" panose="020B0609020204030204" pitchFamily="49" charset="0"/>
              </a:rPr>
              <a:t>customer_satisfaction_src_id</a:t>
            </a:r>
            <a:r>
              <a:rPr lang="en-US" sz="1800" dirty="0">
                <a:solidFill>
                  <a:srgbClr val="000000"/>
                </a:solidFill>
                <a:effectLst/>
                <a:latin typeface="Consolas" panose="020B0609020204030204" pitchFamily="49" charset="0"/>
              </a:rPr>
              <a:t>=</a:t>
            </a:r>
            <a:r>
              <a:rPr lang="en-US" sz="1800" dirty="0">
                <a:solidFill>
                  <a:srgbClr val="008000"/>
                </a:solidFill>
                <a:effectLst/>
                <a:latin typeface="Consolas" panose="020B0609020204030204" pitchFamily="49" charset="0"/>
              </a:rPr>
              <a:t>'S_INC_003’</a:t>
            </a:r>
          </a:p>
          <a:p>
            <a:r>
              <a:rPr lang="en-US" sz="1800" b="1" dirty="0">
                <a:solidFill>
                  <a:srgbClr val="800000"/>
                </a:solidFill>
                <a:effectLst/>
                <a:latin typeface="Consolas" panose="020B0609020204030204" pitchFamily="49" charset="0"/>
              </a:rPr>
              <a:t>select</a:t>
            </a:r>
            <a:r>
              <a:rPr lang="en-US" sz="1800" dirty="0">
                <a:solidFill>
                  <a:srgbClr val="000000"/>
                </a:solidFill>
                <a:effectLst/>
                <a:latin typeface="Consolas" panose="020B0609020204030204" pitchFamily="49" charset="0"/>
              </a:rPr>
              <a:t> </a:t>
            </a:r>
            <a:r>
              <a:rPr lang="en-US" sz="1800" dirty="0" err="1">
                <a:solidFill>
                  <a:srgbClr val="006464"/>
                </a:solidFill>
                <a:effectLst/>
                <a:latin typeface="Consolas" panose="020B0609020204030204" pitchFamily="49" charset="0"/>
              </a:rPr>
              <a:t>customer_satisfaction_src_id</a:t>
            </a:r>
            <a:r>
              <a:rPr lang="en-US" sz="1800" dirty="0">
                <a:solidFill>
                  <a:srgbClr val="000000"/>
                </a:solidFill>
                <a:effectLst/>
                <a:latin typeface="Consolas" panose="020B0609020204030204" pitchFamily="49" charset="0"/>
              </a:rPr>
              <a:t>, </a:t>
            </a:r>
            <a:r>
              <a:rPr lang="en-US" sz="1800" dirty="0" err="1">
                <a:solidFill>
                  <a:srgbClr val="006464"/>
                </a:solidFill>
                <a:effectLst/>
                <a:latin typeface="Consolas" panose="020B0609020204030204" pitchFamily="49" charset="0"/>
              </a:rPr>
              <a:t>fct_on_board_service</a:t>
            </a:r>
            <a:r>
              <a:rPr lang="en-US" sz="1800" dirty="0">
                <a:solidFill>
                  <a:srgbClr val="000000"/>
                </a:solidFill>
                <a:effectLst/>
                <a:latin typeface="Consolas" panose="020B0609020204030204" pitchFamily="49" charset="0"/>
              </a:rPr>
              <a:t>, </a:t>
            </a:r>
            <a:r>
              <a:rPr lang="en-US" sz="1800" i="1" dirty="0">
                <a:solidFill>
                  <a:srgbClr val="8E00C6"/>
                </a:solidFill>
                <a:effectLst/>
                <a:latin typeface="Consolas" panose="020B0609020204030204" pitchFamily="49" charset="0"/>
              </a:rPr>
              <a:t>d</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dirty="0" err="1">
                <a:solidFill>
                  <a:srgbClr val="956037"/>
                </a:solidFill>
                <a:effectLst/>
                <a:latin typeface="Consolas" panose="020B0609020204030204" pitchFamily="49" charset="0"/>
              </a:rPr>
              <a:t>bl_dm</a:t>
            </a:r>
            <a:r>
              <a:rPr lang="en-US" sz="1800" dirty="0" err="1">
                <a:solidFill>
                  <a:srgbClr val="000000"/>
                </a:solidFill>
                <a:effectLst/>
                <a:latin typeface="Consolas" panose="020B0609020204030204" pitchFamily="49" charset="0"/>
              </a:rPr>
              <a:t>.</a:t>
            </a:r>
            <a:r>
              <a:rPr lang="en-US" sz="1800" dirty="0" err="1">
                <a:solidFill>
                  <a:srgbClr val="8E00C6"/>
                </a:solidFill>
                <a:effectLst/>
                <a:latin typeface="Consolas" panose="020B0609020204030204" pitchFamily="49" charset="0"/>
              </a:rPr>
              <a:t>fct_customer_satisfactions_dd</a:t>
            </a:r>
            <a:r>
              <a:rPr lang="en-US" sz="1800" dirty="0">
                <a:solidFill>
                  <a:srgbClr val="000000"/>
                </a:solidFill>
                <a:effectLst/>
                <a:latin typeface="Consolas" panose="020B0609020204030204" pitchFamily="49" charset="0"/>
              </a:rPr>
              <a:t> </a:t>
            </a:r>
            <a:r>
              <a:rPr lang="en-US" sz="1800" i="1" dirty="0">
                <a:solidFill>
                  <a:srgbClr val="8E00C6"/>
                </a:solidFill>
                <a:effectLst/>
                <a:latin typeface="Consolas" panose="020B0609020204030204" pitchFamily="49" charset="0"/>
              </a:rPr>
              <a:t>d</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where</a:t>
            </a:r>
            <a:r>
              <a:rPr lang="en-US" sz="1800" dirty="0">
                <a:solidFill>
                  <a:srgbClr val="000000"/>
                </a:solidFill>
                <a:effectLst/>
                <a:latin typeface="Consolas" panose="020B0609020204030204" pitchFamily="49" charset="0"/>
              </a:rPr>
              <a:t> </a:t>
            </a:r>
            <a:r>
              <a:rPr lang="en-US" sz="1800" dirty="0" err="1">
                <a:solidFill>
                  <a:srgbClr val="006464"/>
                </a:solidFill>
                <a:effectLst/>
                <a:latin typeface="Consolas" panose="020B0609020204030204" pitchFamily="49" charset="0"/>
              </a:rPr>
              <a:t>customer_satisfaction_src_id</a:t>
            </a:r>
            <a:r>
              <a:rPr lang="en-US" sz="1800" dirty="0">
                <a:solidFill>
                  <a:srgbClr val="000000"/>
                </a:solidFill>
                <a:effectLst/>
                <a:latin typeface="Consolas" panose="020B0609020204030204" pitchFamily="49" charset="0"/>
              </a:rPr>
              <a:t>=</a:t>
            </a:r>
            <a:r>
              <a:rPr lang="en-US" sz="1800" dirty="0">
                <a:solidFill>
                  <a:srgbClr val="008000"/>
                </a:solidFill>
                <a:effectLst/>
                <a:latin typeface="Consolas" panose="020B0609020204030204" pitchFamily="49" charset="0"/>
              </a:rPr>
              <a:t>'S_INC_003’</a:t>
            </a:r>
          </a:p>
          <a:p>
            <a:pPr marL="0" marR="0">
              <a:spcBef>
                <a:spcPts val="0"/>
              </a:spcBef>
              <a:spcAft>
                <a:spcPts val="0"/>
              </a:spcAft>
            </a:pPr>
            <a:endParaRPr lang="en-US" sz="1200" b="1" dirty="0">
              <a:solidFill>
                <a:srgbClr val="8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u="sng" dirty="0" err="1">
                <a:solidFill>
                  <a:srgbClr val="956037"/>
                </a:solidFill>
                <a:effectLst/>
                <a:latin typeface="Consolas" panose="020B0609020204030204" pitchFamily="49" charset="0"/>
              </a:rPr>
              <a:t>bl_cl</a:t>
            </a:r>
            <a:r>
              <a:rPr lang="en-US" sz="1800" u="sng" dirty="0" err="1">
                <a:solidFill>
                  <a:srgbClr val="000000"/>
                </a:solidFill>
                <a:effectLst/>
                <a:latin typeface="Consolas" panose="020B0609020204030204" pitchFamily="49" charset="0"/>
              </a:rPr>
              <a:t>.</a:t>
            </a:r>
            <a:r>
              <a:rPr lang="en-US" sz="1800" u="sng" dirty="0" err="1">
                <a:solidFill>
                  <a:srgbClr val="6C5151"/>
                </a:solidFill>
                <a:effectLst/>
                <a:latin typeface="Consolas" panose="020B0609020204030204" pitchFamily="49" charset="0"/>
              </a:rPr>
              <a:t>pr_load_all_increment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000080"/>
                </a:solidFill>
                <a:effectLst/>
                <a:latin typeface="Consolas" panose="020B0609020204030204" pitchFamily="49" charset="0"/>
              </a:rPr>
              <a:t>DATE</a:t>
            </a:r>
            <a:r>
              <a:rPr lang="en-US" sz="1800" dirty="0">
                <a:solidFill>
                  <a:srgbClr val="000000"/>
                </a:solidFill>
                <a:effectLst/>
                <a:latin typeface="Consolas" panose="020B0609020204030204" pitchFamily="49" charset="0"/>
              </a:rPr>
              <a:t> </a:t>
            </a:r>
            <a:r>
              <a:rPr lang="en-US" sz="1800" dirty="0">
                <a:solidFill>
                  <a:srgbClr val="008000"/>
                </a:solidFill>
                <a:effectLst/>
                <a:latin typeface="Consolas" panose="020B0609020204030204" pitchFamily="49" charset="0"/>
              </a:rPr>
              <a:t>'2027-11-05'</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000080"/>
                </a:solidFill>
                <a:effectLst/>
                <a:latin typeface="Consolas" panose="020B0609020204030204" pitchFamily="49" charset="0"/>
              </a:rPr>
              <a:t>DATE</a:t>
            </a:r>
            <a:r>
              <a:rPr lang="en-US" sz="1800" dirty="0">
                <a:solidFill>
                  <a:srgbClr val="000000"/>
                </a:solidFill>
                <a:effectLst/>
                <a:latin typeface="Consolas" panose="020B0609020204030204" pitchFamily="49" charset="0"/>
              </a:rPr>
              <a:t> </a:t>
            </a:r>
            <a:r>
              <a:rPr lang="en-US" sz="1800" dirty="0">
                <a:solidFill>
                  <a:srgbClr val="008000"/>
                </a:solidFill>
                <a:effectLst/>
                <a:latin typeface="Consolas" panose="020B0609020204030204" pitchFamily="49" charset="0"/>
              </a:rPr>
              <a:t>'2027-11-07'</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800000"/>
                </a:solidFill>
                <a:effectLst/>
                <a:latin typeface="Consolas" panose="020B0609020204030204" pitchFamily="49" charset="0"/>
              </a:rPr>
              <a:t>false</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91229DCC-59D3-4387-BC31-DC8272126700}" type="slidenum">
              <a:rPr lang="en-US" smtClean="0"/>
              <a:t>9</a:t>
            </a:fld>
            <a:endParaRPr lang="en-US"/>
          </a:p>
        </p:txBody>
      </p:sp>
    </p:spTree>
    <p:extLst>
      <p:ext uri="{BB962C8B-B14F-4D97-AF65-F5344CB8AC3E}">
        <p14:creationId xmlns:p14="http://schemas.microsoft.com/office/powerpoint/2010/main" val="229528017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b="1" dirty="0">
                <a:solidFill>
                  <a:srgbClr val="800000"/>
                </a:solidFill>
                <a:effectLst/>
                <a:latin typeface="Consolas" panose="020B0609020204030204" pitchFamily="49" charset="0"/>
              </a:rPr>
              <a:t>select</a:t>
            </a:r>
            <a:r>
              <a:rPr lang="en-US" sz="1800" dirty="0">
                <a:solidFill>
                  <a:srgbClr val="000000"/>
                </a:solidFill>
                <a:effectLst/>
                <a:latin typeface="Consolas" panose="020B0609020204030204" pitchFamily="49" charset="0"/>
              </a:rPr>
              <a:t> * </a:t>
            </a:r>
            <a:r>
              <a:rPr lang="en-US" sz="1800" b="1" dirty="0">
                <a:solidFill>
                  <a:srgbClr val="800000"/>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dirty="0">
                <a:solidFill>
                  <a:srgbClr val="956037"/>
                </a:solidFill>
                <a:effectLst/>
                <a:latin typeface="Consolas" panose="020B0609020204030204" pitchFamily="49" charset="0"/>
              </a:rPr>
              <a:t>bl_3nf</a:t>
            </a:r>
            <a:r>
              <a:rPr lang="en-US" sz="1800" dirty="0">
                <a:solidFill>
                  <a:srgbClr val="000000"/>
                </a:solidFill>
                <a:effectLst/>
                <a:latin typeface="Consolas" panose="020B0609020204030204" pitchFamily="49" charset="0"/>
              </a:rPr>
              <a:t>.</a:t>
            </a:r>
            <a:r>
              <a:rPr lang="en-US" sz="1800" dirty="0">
                <a:solidFill>
                  <a:srgbClr val="8E00C6"/>
                </a:solidFill>
                <a:effectLst/>
                <a:latin typeface="Consolas" panose="020B0609020204030204" pitchFamily="49" charset="0"/>
              </a:rPr>
              <a:t>ce_customers_scd</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where</a:t>
            </a:r>
            <a:r>
              <a:rPr lang="en-US" sz="1800" dirty="0">
                <a:solidFill>
                  <a:srgbClr val="000000"/>
                </a:solidFill>
                <a:effectLst/>
                <a:latin typeface="Consolas" panose="020B0609020204030204" pitchFamily="49" charset="0"/>
              </a:rPr>
              <a:t> </a:t>
            </a:r>
            <a:r>
              <a:rPr lang="en-US" sz="1800" dirty="0" err="1">
                <a:solidFill>
                  <a:srgbClr val="006464"/>
                </a:solidFill>
                <a:effectLst/>
                <a:latin typeface="Consolas" panose="020B0609020204030204" pitchFamily="49" charset="0"/>
              </a:rPr>
              <a:t>customer_src_id</a:t>
            </a:r>
            <a:r>
              <a:rPr lang="en-US" sz="1800" dirty="0">
                <a:solidFill>
                  <a:srgbClr val="000000"/>
                </a:solidFill>
                <a:effectLst/>
                <a:latin typeface="Consolas" panose="020B0609020204030204" pitchFamily="49" charset="0"/>
              </a:rPr>
              <a:t> = </a:t>
            </a:r>
            <a:r>
              <a:rPr lang="en-US" sz="1800" dirty="0">
                <a:solidFill>
                  <a:srgbClr val="008000"/>
                </a:solidFill>
                <a:effectLst/>
                <a:latin typeface="Consolas" panose="020B0609020204030204" pitchFamily="49" charset="0"/>
              </a:rPr>
              <a:t>'5047’</a:t>
            </a:r>
          </a:p>
          <a:p>
            <a:r>
              <a:rPr lang="en-US" sz="1800" b="1" dirty="0">
                <a:solidFill>
                  <a:srgbClr val="800000"/>
                </a:solidFill>
                <a:effectLst/>
                <a:latin typeface="Consolas" panose="020B0609020204030204" pitchFamily="49" charset="0"/>
              </a:rPr>
              <a:t>select</a:t>
            </a:r>
            <a:r>
              <a:rPr lang="en-US" sz="1800" dirty="0">
                <a:solidFill>
                  <a:srgbClr val="000000"/>
                </a:solidFill>
                <a:effectLst/>
                <a:latin typeface="Consolas" panose="020B0609020204030204" pitchFamily="49" charset="0"/>
              </a:rPr>
              <a:t> * </a:t>
            </a:r>
            <a:r>
              <a:rPr lang="en-US" sz="1800" b="1" dirty="0">
                <a:solidFill>
                  <a:srgbClr val="800000"/>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dirty="0" err="1">
                <a:solidFill>
                  <a:srgbClr val="956037"/>
                </a:solidFill>
                <a:effectLst/>
                <a:latin typeface="Consolas" panose="020B0609020204030204" pitchFamily="49" charset="0"/>
              </a:rPr>
              <a:t>bl_dm</a:t>
            </a:r>
            <a:r>
              <a:rPr lang="en-US" sz="1800" dirty="0" err="1">
                <a:solidFill>
                  <a:srgbClr val="000000"/>
                </a:solidFill>
                <a:effectLst/>
                <a:latin typeface="Consolas" panose="020B0609020204030204" pitchFamily="49" charset="0"/>
              </a:rPr>
              <a:t>.</a:t>
            </a:r>
            <a:r>
              <a:rPr lang="en-US" sz="1800" dirty="0" err="1">
                <a:solidFill>
                  <a:srgbClr val="8E00C6"/>
                </a:solidFill>
                <a:effectLst/>
                <a:latin typeface="Consolas" panose="020B0609020204030204" pitchFamily="49" charset="0"/>
              </a:rPr>
              <a:t>dim_customers_scd</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where</a:t>
            </a:r>
            <a:r>
              <a:rPr lang="en-US" sz="1800" dirty="0">
                <a:solidFill>
                  <a:srgbClr val="000000"/>
                </a:solidFill>
                <a:effectLst/>
                <a:latin typeface="Consolas" panose="020B0609020204030204" pitchFamily="49" charset="0"/>
              </a:rPr>
              <a:t> </a:t>
            </a:r>
            <a:r>
              <a:rPr lang="en-US" sz="1800" dirty="0" err="1">
                <a:solidFill>
                  <a:srgbClr val="006464"/>
                </a:solidFill>
                <a:effectLst/>
                <a:latin typeface="Consolas" panose="020B0609020204030204" pitchFamily="49" charset="0"/>
              </a:rPr>
              <a:t>customer_src_id</a:t>
            </a:r>
            <a:r>
              <a:rPr lang="en-US" sz="1800" dirty="0">
                <a:solidFill>
                  <a:srgbClr val="000000"/>
                </a:solidFill>
                <a:effectLst/>
                <a:latin typeface="Consolas" panose="020B0609020204030204" pitchFamily="49" charset="0"/>
              </a:rPr>
              <a:t> = </a:t>
            </a:r>
            <a:r>
              <a:rPr lang="en-US" sz="1800" dirty="0">
                <a:solidFill>
                  <a:srgbClr val="008000"/>
                </a:solidFill>
                <a:effectLst/>
                <a:latin typeface="Consolas" panose="020B0609020204030204" pitchFamily="49" charset="0"/>
              </a:rPr>
              <a:t>'5047’</a:t>
            </a:r>
          </a:p>
          <a:p>
            <a:endParaRPr lang="en-US" sz="1800" dirty="0">
              <a:solidFill>
                <a:srgbClr val="008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CALL</a:t>
            </a:r>
            <a:r>
              <a:rPr lang="en-US" sz="1800" dirty="0">
                <a:solidFill>
                  <a:srgbClr val="000000"/>
                </a:solidFill>
                <a:effectLst/>
                <a:latin typeface="Consolas" panose="020B0609020204030204" pitchFamily="49" charset="0"/>
              </a:rPr>
              <a:t> </a:t>
            </a:r>
            <a:r>
              <a:rPr lang="en-US" sz="1800" u="sng" dirty="0" err="1">
                <a:solidFill>
                  <a:srgbClr val="956037"/>
                </a:solidFill>
                <a:effectLst/>
                <a:latin typeface="Consolas" panose="020B0609020204030204" pitchFamily="49" charset="0"/>
              </a:rPr>
              <a:t>bl_cl</a:t>
            </a:r>
            <a:r>
              <a:rPr lang="en-US" sz="1800" u="sng" dirty="0" err="1">
                <a:solidFill>
                  <a:srgbClr val="000000"/>
                </a:solidFill>
                <a:effectLst/>
                <a:latin typeface="Consolas" panose="020B0609020204030204" pitchFamily="49" charset="0"/>
              </a:rPr>
              <a:t>.</a:t>
            </a:r>
            <a:r>
              <a:rPr lang="en-US" sz="1800" u="sng" dirty="0" err="1">
                <a:solidFill>
                  <a:srgbClr val="6C5151"/>
                </a:solidFill>
                <a:effectLst/>
                <a:latin typeface="Consolas" panose="020B0609020204030204" pitchFamily="49" charset="0"/>
              </a:rPr>
              <a:t>pr_load_all_increment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000080"/>
                </a:solidFill>
                <a:effectLst/>
                <a:latin typeface="Consolas" panose="020B0609020204030204" pitchFamily="49" charset="0"/>
              </a:rPr>
              <a:t>DATE</a:t>
            </a:r>
            <a:r>
              <a:rPr lang="en-US" sz="1800" dirty="0">
                <a:solidFill>
                  <a:srgbClr val="000000"/>
                </a:solidFill>
                <a:effectLst/>
                <a:latin typeface="Consolas" panose="020B0609020204030204" pitchFamily="49" charset="0"/>
              </a:rPr>
              <a:t> </a:t>
            </a:r>
            <a:r>
              <a:rPr lang="en-US" sz="1800" dirty="0">
                <a:solidFill>
                  <a:srgbClr val="008000"/>
                </a:solidFill>
                <a:effectLst/>
                <a:latin typeface="Consolas" panose="020B0609020204030204" pitchFamily="49" charset="0"/>
              </a:rPr>
              <a:t>'2027-11-05'</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000080"/>
                </a:solidFill>
                <a:effectLst/>
                <a:latin typeface="Consolas" panose="020B0609020204030204" pitchFamily="49" charset="0"/>
              </a:rPr>
              <a:t>DATE</a:t>
            </a:r>
            <a:r>
              <a:rPr lang="en-US" sz="1800" dirty="0">
                <a:solidFill>
                  <a:srgbClr val="000000"/>
                </a:solidFill>
                <a:effectLst/>
                <a:latin typeface="Consolas" panose="020B0609020204030204" pitchFamily="49" charset="0"/>
              </a:rPr>
              <a:t> </a:t>
            </a:r>
            <a:r>
              <a:rPr lang="en-US" sz="1800" dirty="0">
                <a:solidFill>
                  <a:srgbClr val="008000"/>
                </a:solidFill>
                <a:effectLst/>
                <a:latin typeface="Consolas" panose="020B0609020204030204" pitchFamily="49" charset="0"/>
              </a:rPr>
              <a:t>'2027-11-07'</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800000"/>
                </a:solidFill>
                <a:effectLst/>
                <a:latin typeface="Consolas" panose="020B0609020204030204" pitchFamily="49" charset="0"/>
              </a:rPr>
              <a:t>false</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91229DCC-59D3-4387-BC31-DC8272126700}" type="slidenum">
              <a:rPr lang="en-US" smtClean="0"/>
              <a:t>10</a:t>
            </a:fld>
            <a:endParaRPr lang="en-US"/>
          </a:p>
        </p:txBody>
      </p:sp>
    </p:spTree>
    <p:extLst>
      <p:ext uri="{BB962C8B-B14F-4D97-AF65-F5344CB8AC3E}">
        <p14:creationId xmlns:p14="http://schemas.microsoft.com/office/powerpoint/2010/main" val="22201483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b="1" dirty="0">
                <a:solidFill>
                  <a:srgbClr val="800000"/>
                </a:solidFill>
                <a:effectLst/>
                <a:latin typeface="Consolas" panose="020B0609020204030204" pitchFamily="49" charset="0"/>
              </a:rPr>
              <a:t>SELECT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i="1" dirty="0" err="1">
                <a:solidFill>
                  <a:srgbClr val="8E00C6"/>
                </a:solidFill>
                <a:effectLst/>
                <a:latin typeface="Consolas" panose="020B0609020204030204" pitchFamily="49" charset="0"/>
              </a:rPr>
              <a:t>parent</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relname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err="1">
                <a:solidFill>
                  <a:srgbClr val="006464"/>
                </a:solidFill>
                <a:effectLst/>
                <a:latin typeface="Consolas" panose="020B0609020204030204" pitchFamily="49" charset="0"/>
              </a:rPr>
              <a:t>parent_table</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i="1" dirty="0" err="1">
                <a:solidFill>
                  <a:srgbClr val="8E00C6"/>
                </a:solidFill>
                <a:effectLst/>
                <a:latin typeface="Consolas" panose="020B0609020204030204" pitchFamily="49" charset="0"/>
              </a:rPr>
              <a:t>child</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relname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err="1">
                <a:solidFill>
                  <a:srgbClr val="006464"/>
                </a:solidFill>
                <a:effectLst/>
                <a:latin typeface="Consolas" panose="020B0609020204030204" pitchFamily="49" charset="0"/>
              </a:rPr>
              <a:t>partition_name</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err="1">
                <a:solidFill>
                  <a:srgbClr val="000080"/>
                </a:solidFill>
                <a:effectLst/>
                <a:latin typeface="Consolas" panose="020B0609020204030204" pitchFamily="49" charset="0"/>
              </a:rPr>
              <a:t>pg_get_expr</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i="1" dirty="0" err="1">
                <a:solidFill>
                  <a:srgbClr val="8E00C6"/>
                </a:solidFill>
                <a:effectLst/>
                <a:latin typeface="Consolas" panose="020B0609020204030204" pitchFamily="49" charset="0"/>
              </a:rPr>
              <a:t>child</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relpartbound</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i="1" dirty="0" err="1">
                <a:solidFill>
                  <a:srgbClr val="8E00C6"/>
                </a:solidFill>
                <a:effectLst/>
                <a:latin typeface="Consolas" panose="020B0609020204030204" pitchFamily="49" charset="0"/>
              </a:rPr>
              <a:t>child</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oid</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err="1">
                <a:solidFill>
                  <a:srgbClr val="006464"/>
                </a:solidFill>
                <a:effectLst/>
                <a:latin typeface="Consolas" panose="020B0609020204030204" pitchFamily="49" charset="0"/>
              </a:rPr>
              <a:t>partition_range</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dirty="0" err="1">
                <a:solidFill>
                  <a:srgbClr val="8E00C6"/>
                </a:solidFill>
                <a:effectLst/>
                <a:latin typeface="Consolas" panose="020B0609020204030204" pitchFamily="49" charset="0"/>
              </a:rPr>
              <a:t>pg_inherits</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err="1">
                <a:solidFill>
                  <a:srgbClr val="8E00C6"/>
                </a:solidFill>
                <a:effectLst/>
                <a:latin typeface="Consolas" panose="020B0609020204030204" pitchFamily="49" charset="0"/>
              </a:rPr>
              <a:t>i</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JOIN</a:t>
            </a:r>
            <a:r>
              <a:rPr lang="en-US" sz="1800" dirty="0">
                <a:solidFill>
                  <a:srgbClr val="000000"/>
                </a:solidFill>
                <a:effectLst/>
                <a:latin typeface="Consolas" panose="020B0609020204030204" pitchFamily="49" charset="0"/>
              </a:rPr>
              <a:t> </a:t>
            </a:r>
            <a:r>
              <a:rPr lang="en-US" sz="1800" dirty="0" err="1">
                <a:solidFill>
                  <a:srgbClr val="8E00C6"/>
                </a:solidFill>
                <a:effectLst/>
                <a:latin typeface="Consolas" panose="020B0609020204030204" pitchFamily="49" charset="0"/>
              </a:rPr>
              <a:t>pg_class</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a:solidFill>
                  <a:srgbClr val="8E00C6"/>
                </a:solidFill>
                <a:effectLst/>
                <a:latin typeface="Consolas" panose="020B0609020204030204" pitchFamily="49" charset="0"/>
              </a:rPr>
              <a:t>parent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ON</a:t>
            </a:r>
            <a:r>
              <a:rPr lang="en-US" sz="1800" dirty="0">
                <a:solidFill>
                  <a:srgbClr val="000000"/>
                </a:solidFill>
                <a:effectLst/>
                <a:latin typeface="Consolas" panose="020B0609020204030204" pitchFamily="49" charset="0"/>
              </a:rPr>
              <a:t> </a:t>
            </a:r>
            <a:r>
              <a:rPr lang="en-US" sz="1800" i="1" dirty="0" err="1">
                <a:solidFill>
                  <a:srgbClr val="8E00C6"/>
                </a:solidFill>
                <a:effectLst/>
                <a:latin typeface="Consolas" panose="020B0609020204030204" pitchFamily="49" charset="0"/>
              </a:rPr>
              <a:t>parent</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oid</a:t>
            </a:r>
            <a:r>
              <a:rPr lang="en-US" sz="1800" dirty="0">
                <a:solidFill>
                  <a:srgbClr val="000000"/>
                </a:solidFill>
                <a:effectLst/>
                <a:latin typeface="Consolas" panose="020B0609020204030204" pitchFamily="49" charset="0"/>
              </a:rPr>
              <a:t> = </a:t>
            </a:r>
            <a:r>
              <a:rPr lang="en-US" sz="1800" i="1" dirty="0" err="1">
                <a:solidFill>
                  <a:srgbClr val="8E00C6"/>
                </a:solidFill>
                <a:effectLst/>
                <a:latin typeface="Consolas" panose="020B0609020204030204" pitchFamily="49" charset="0"/>
              </a:rPr>
              <a:t>i</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inhparent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JOIN</a:t>
            </a:r>
            <a:r>
              <a:rPr lang="en-US" sz="1800" dirty="0">
                <a:solidFill>
                  <a:srgbClr val="000000"/>
                </a:solidFill>
                <a:effectLst/>
                <a:latin typeface="Consolas" panose="020B0609020204030204" pitchFamily="49" charset="0"/>
              </a:rPr>
              <a:t> </a:t>
            </a:r>
            <a:r>
              <a:rPr lang="en-US" sz="1800" dirty="0" err="1">
                <a:solidFill>
                  <a:srgbClr val="8E00C6"/>
                </a:solidFill>
                <a:effectLst/>
                <a:latin typeface="Consolas" panose="020B0609020204030204" pitchFamily="49" charset="0"/>
              </a:rPr>
              <a:t>pg_class</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a:solidFill>
                  <a:srgbClr val="8E00C6"/>
                </a:solidFill>
                <a:effectLst/>
                <a:latin typeface="Consolas" panose="020B0609020204030204" pitchFamily="49" charset="0"/>
              </a:rPr>
              <a:t>child</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ON</a:t>
            </a:r>
            <a:r>
              <a:rPr lang="en-US" sz="1800" dirty="0">
                <a:solidFill>
                  <a:srgbClr val="000000"/>
                </a:solidFill>
                <a:effectLst/>
                <a:latin typeface="Consolas" panose="020B0609020204030204" pitchFamily="49" charset="0"/>
              </a:rPr>
              <a:t> </a:t>
            </a:r>
            <a:r>
              <a:rPr lang="en-US" sz="1800" i="1" dirty="0" err="1">
                <a:solidFill>
                  <a:srgbClr val="8E00C6"/>
                </a:solidFill>
                <a:effectLst/>
                <a:latin typeface="Consolas" panose="020B0609020204030204" pitchFamily="49" charset="0"/>
              </a:rPr>
              <a:t>child</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oid</a:t>
            </a:r>
            <a:r>
              <a:rPr lang="en-US" sz="1800" dirty="0">
                <a:solidFill>
                  <a:srgbClr val="000000"/>
                </a:solidFill>
                <a:effectLst/>
                <a:latin typeface="Consolas" panose="020B0609020204030204" pitchFamily="49" charset="0"/>
              </a:rPr>
              <a:t> = </a:t>
            </a:r>
            <a:r>
              <a:rPr lang="en-US" sz="1800" i="1" dirty="0" err="1">
                <a:solidFill>
                  <a:srgbClr val="8E00C6"/>
                </a:solidFill>
                <a:effectLst/>
                <a:latin typeface="Consolas" panose="020B0609020204030204" pitchFamily="49" charset="0"/>
              </a:rPr>
              <a:t>i</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inhrelid</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JOIN</a:t>
            </a:r>
            <a:r>
              <a:rPr lang="en-US" sz="1800" dirty="0">
                <a:solidFill>
                  <a:srgbClr val="000000"/>
                </a:solidFill>
                <a:effectLst/>
                <a:latin typeface="Consolas" panose="020B0609020204030204" pitchFamily="49" charset="0"/>
              </a:rPr>
              <a:t> </a:t>
            </a:r>
            <a:r>
              <a:rPr lang="en-US" sz="1800" dirty="0" err="1">
                <a:solidFill>
                  <a:srgbClr val="8E00C6"/>
                </a:solidFill>
                <a:effectLst/>
                <a:latin typeface="Consolas" panose="020B0609020204030204" pitchFamily="49" charset="0"/>
              </a:rPr>
              <a:t>pg_namespace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AS</a:t>
            </a:r>
            <a:r>
              <a:rPr lang="en-US" sz="1800" dirty="0">
                <a:solidFill>
                  <a:srgbClr val="000000"/>
                </a:solidFill>
                <a:effectLst/>
                <a:latin typeface="Consolas" panose="020B0609020204030204" pitchFamily="49" charset="0"/>
              </a:rPr>
              <a:t> </a:t>
            </a:r>
            <a:r>
              <a:rPr lang="en-US" sz="1800" i="1" dirty="0">
                <a:solidFill>
                  <a:srgbClr val="8E00C6"/>
                </a:solidFill>
                <a:effectLst/>
                <a:latin typeface="Consolas" panose="020B0609020204030204" pitchFamily="49" charset="0"/>
              </a:rPr>
              <a:t>ns</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ON</a:t>
            </a:r>
            <a:r>
              <a:rPr lang="en-US" sz="1800" dirty="0">
                <a:solidFill>
                  <a:srgbClr val="000000"/>
                </a:solidFill>
                <a:effectLst/>
                <a:latin typeface="Consolas" panose="020B0609020204030204" pitchFamily="49" charset="0"/>
              </a:rPr>
              <a:t> </a:t>
            </a:r>
            <a:r>
              <a:rPr lang="en-US" sz="1800" i="1" dirty="0" err="1">
                <a:solidFill>
                  <a:srgbClr val="8E00C6"/>
                </a:solidFill>
                <a:effectLst/>
                <a:latin typeface="Consolas" panose="020B0609020204030204" pitchFamily="49" charset="0"/>
              </a:rPr>
              <a:t>ns</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oid</a:t>
            </a:r>
            <a:r>
              <a:rPr lang="en-US" sz="1800" dirty="0">
                <a:solidFill>
                  <a:srgbClr val="000000"/>
                </a:solidFill>
                <a:effectLst/>
                <a:latin typeface="Consolas" panose="020B0609020204030204" pitchFamily="49" charset="0"/>
              </a:rPr>
              <a:t> = </a:t>
            </a:r>
            <a:r>
              <a:rPr lang="en-US" sz="1800" i="1" dirty="0" err="1">
                <a:solidFill>
                  <a:srgbClr val="8E00C6"/>
                </a:solidFill>
                <a:effectLst/>
                <a:latin typeface="Consolas" panose="020B0609020204030204" pitchFamily="49" charset="0"/>
              </a:rPr>
              <a:t>parent</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relnamespace</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WHERE</a:t>
            </a:r>
            <a:r>
              <a:rPr lang="en-US" sz="1800" dirty="0">
                <a:solidFill>
                  <a:srgbClr val="000000"/>
                </a:solidFill>
                <a:effectLst/>
                <a:latin typeface="Consolas" panose="020B0609020204030204" pitchFamily="49" charset="0"/>
              </a:rPr>
              <a:t> </a:t>
            </a:r>
            <a:r>
              <a:rPr lang="en-US" sz="1800" i="1" dirty="0" err="1">
                <a:solidFill>
                  <a:srgbClr val="8E00C6"/>
                </a:solidFill>
                <a:effectLst/>
                <a:latin typeface="Consolas" panose="020B0609020204030204" pitchFamily="49" charset="0"/>
              </a:rPr>
              <a:t>ns</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nspname</a:t>
            </a:r>
            <a:r>
              <a:rPr lang="en-US" sz="1800" dirty="0">
                <a:solidFill>
                  <a:srgbClr val="000000"/>
                </a:solidFill>
                <a:effectLst/>
                <a:latin typeface="Consolas" panose="020B0609020204030204" pitchFamily="49" charset="0"/>
              </a:rPr>
              <a:t> = </a:t>
            </a:r>
            <a:r>
              <a:rPr lang="en-US" sz="1800" dirty="0">
                <a:solidFill>
                  <a:srgbClr val="008000"/>
                </a:solidFill>
                <a:effectLst/>
                <a:latin typeface="Consolas" panose="020B0609020204030204" pitchFamily="49" charset="0"/>
              </a:rPr>
              <a:t>'</a:t>
            </a:r>
            <a:r>
              <a:rPr lang="en-US" sz="1800" dirty="0" err="1">
                <a:solidFill>
                  <a:srgbClr val="008000"/>
                </a:solidFill>
                <a:effectLst/>
                <a:latin typeface="Consolas" panose="020B0609020204030204" pitchFamily="49" charset="0"/>
              </a:rPr>
              <a:t>bl_dm</a:t>
            </a:r>
            <a:r>
              <a:rPr lang="en-US" sz="1800" dirty="0">
                <a:solidFill>
                  <a:srgbClr val="008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AND</a:t>
            </a:r>
            <a:r>
              <a:rPr lang="en-US" sz="1800" dirty="0">
                <a:solidFill>
                  <a:srgbClr val="000000"/>
                </a:solidFill>
                <a:effectLst/>
                <a:latin typeface="Consolas" panose="020B0609020204030204" pitchFamily="49" charset="0"/>
              </a:rPr>
              <a:t> </a:t>
            </a:r>
            <a:r>
              <a:rPr lang="en-US" sz="1800" i="1" dirty="0" err="1">
                <a:solidFill>
                  <a:srgbClr val="8E00C6"/>
                </a:solidFill>
                <a:effectLst/>
                <a:latin typeface="Consolas" panose="020B0609020204030204" pitchFamily="49" charset="0"/>
              </a:rPr>
              <a:t>parent</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relname</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IN</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8000"/>
                </a:solidFill>
                <a:effectLst/>
                <a:latin typeface="Consolas" panose="020B0609020204030204" pitchFamily="49" charset="0"/>
              </a:rPr>
              <a:t>'</a:t>
            </a:r>
            <a:r>
              <a:rPr lang="en-US" sz="1800" dirty="0" err="1">
                <a:solidFill>
                  <a:srgbClr val="008000"/>
                </a:solidFill>
                <a:effectLst/>
                <a:latin typeface="Consolas" panose="020B0609020204030204" pitchFamily="49" charset="0"/>
              </a:rPr>
              <a:t>fct_bookings_dd</a:t>
            </a:r>
            <a:r>
              <a:rPr lang="en-US" sz="1800" dirty="0">
                <a:solidFill>
                  <a:srgbClr val="008000"/>
                </a:solidFill>
                <a:effectLst/>
                <a:latin typeface="Consolas" panose="020B0609020204030204" pitchFamily="49" charset="0"/>
              </a:rPr>
              <a:t>'</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dirty="0">
                <a:solidFill>
                  <a:srgbClr val="008000"/>
                </a:solidFill>
                <a:effectLst/>
                <a:latin typeface="Consolas" panose="020B0609020204030204" pitchFamily="49" charset="0"/>
              </a:rPr>
              <a:t>'</a:t>
            </a:r>
            <a:r>
              <a:rPr lang="en-US" sz="1800" dirty="0" err="1">
                <a:solidFill>
                  <a:srgbClr val="008000"/>
                </a:solidFill>
                <a:effectLst/>
                <a:latin typeface="Consolas" panose="020B0609020204030204" pitchFamily="49" charset="0"/>
              </a:rPr>
              <a:t>fct_customer_satisfactions_dd</a:t>
            </a:r>
            <a:r>
              <a:rPr lang="en-US" sz="1800" dirty="0">
                <a:solidFill>
                  <a:srgbClr val="008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b="1" dirty="0">
                <a:solidFill>
                  <a:srgbClr val="800000"/>
                </a:solidFill>
                <a:effectLst/>
                <a:latin typeface="Consolas" panose="020B0609020204030204" pitchFamily="49" charset="0"/>
              </a:rPr>
              <a:t>ORDER</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BY</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i="1" dirty="0" err="1">
                <a:solidFill>
                  <a:srgbClr val="8E00C6"/>
                </a:solidFill>
                <a:effectLst/>
                <a:latin typeface="Consolas" panose="020B0609020204030204" pitchFamily="49" charset="0"/>
              </a:rPr>
              <a:t>parent</a:t>
            </a:r>
            <a:r>
              <a:rPr lang="en-US" sz="1800" dirty="0" err="1">
                <a:solidFill>
                  <a:srgbClr val="000000"/>
                </a:solidFill>
                <a:effectLst/>
                <a:latin typeface="Consolas" panose="020B0609020204030204" pitchFamily="49" charset="0"/>
              </a:rPr>
              <a:t>.</a:t>
            </a:r>
            <a:r>
              <a:rPr lang="en-US" sz="1800" dirty="0" err="1">
                <a:solidFill>
                  <a:srgbClr val="006464"/>
                </a:solidFill>
                <a:effectLst/>
                <a:latin typeface="Consolas" panose="020B0609020204030204" pitchFamily="49" charset="0"/>
              </a:rPr>
              <a:t>relname</a:t>
            </a:r>
            <a:r>
              <a:rPr lang="en-US" sz="1800" dirty="0">
                <a:solidFill>
                  <a:srgbClr val="000000"/>
                </a:solidFill>
                <a:effectLst/>
                <a:latin typeface="Consolas" panose="020B0609020204030204" pitchFamily="49" charset="0"/>
              </a:rPr>
              <a:t>,</a:t>
            </a:r>
          </a:p>
          <a:p>
            <a:pPr marL="0" marR="0">
              <a:spcBef>
                <a:spcPts val="0"/>
              </a:spcBef>
              <a:spcAft>
                <a:spcPts val="0"/>
              </a:spcAft>
            </a:pPr>
            <a:r>
              <a:rPr lang="en-US" sz="1800" i="1" dirty="0" err="1">
                <a:solidFill>
                  <a:srgbClr val="006464"/>
                </a:solidFill>
                <a:effectLst/>
                <a:latin typeface="Consolas" panose="020B0609020204030204" pitchFamily="49" charset="0"/>
              </a:rPr>
              <a:t>partition_name</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91229DCC-59D3-4387-BC31-DC8272126700}" type="slidenum">
              <a:rPr lang="en-US" smtClean="0"/>
              <a:t>11</a:t>
            </a:fld>
            <a:endParaRPr lang="en-US"/>
          </a:p>
        </p:txBody>
      </p:sp>
    </p:spTree>
    <p:extLst>
      <p:ext uri="{BB962C8B-B14F-4D97-AF65-F5344CB8AC3E}">
        <p14:creationId xmlns:p14="http://schemas.microsoft.com/office/powerpoint/2010/main" val="23115235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b="1" dirty="0">
                <a:solidFill>
                  <a:srgbClr val="800000"/>
                </a:solidFill>
                <a:effectLst/>
                <a:latin typeface="Consolas" panose="020B0609020204030204" pitchFamily="49" charset="0"/>
              </a:rPr>
              <a:t>SELECT</a:t>
            </a:r>
            <a:r>
              <a:rPr lang="en-US" sz="1800" dirty="0">
                <a:solidFill>
                  <a:srgbClr val="000000"/>
                </a:solidFill>
                <a:effectLst/>
                <a:latin typeface="Consolas" panose="020B0609020204030204" pitchFamily="49" charset="0"/>
              </a:rPr>
              <a:t> *</a:t>
            </a:r>
          </a:p>
          <a:p>
            <a:pPr marL="0" marR="0">
              <a:spcBef>
                <a:spcPts val="0"/>
              </a:spcBef>
              <a:spcAft>
                <a:spcPts val="0"/>
              </a:spcAft>
            </a:pPr>
            <a:r>
              <a:rPr lang="en-US" sz="1800" b="1" dirty="0">
                <a:solidFill>
                  <a:srgbClr val="800000"/>
                </a:solidFill>
                <a:effectLst/>
                <a:latin typeface="Consolas" panose="020B0609020204030204" pitchFamily="49" charset="0"/>
              </a:rPr>
              <a:t>FROM</a:t>
            </a:r>
            <a:r>
              <a:rPr lang="en-US" sz="1800" dirty="0">
                <a:solidFill>
                  <a:srgbClr val="000000"/>
                </a:solidFill>
                <a:effectLst/>
                <a:latin typeface="Consolas" panose="020B0609020204030204" pitchFamily="49" charset="0"/>
              </a:rPr>
              <a:t> </a:t>
            </a:r>
            <a:r>
              <a:rPr lang="en-US" sz="1800" dirty="0" err="1">
                <a:solidFill>
                  <a:srgbClr val="956037"/>
                </a:solidFill>
                <a:effectLst/>
                <a:latin typeface="Consolas" panose="020B0609020204030204" pitchFamily="49" charset="0"/>
              </a:rPr>
              <a:t>bl_cl</a:t>
            </a:r>
            <a:r>
              <a:rPr lang="en-US" sz="1800" dirty="0" err="1">
                <a:solidFill>
                  <a:srgbClr val="000000"/>
                </a:solidFill>
                <a:effectLst/>
                <a:latin typeface="Consolas" panose="020B0609020204030204" pitchFamily="49" charset="0"/>
              </a:rPr>
              <a:t>.</a:t>
            </a:r>
            <a:r>
              <a:rPr lang="en-US" sz="1800" dirty="0" err="1">
                <a:solidFill>
                  <a:srgbClr val="8E00C6"/>
                </a:solidFill>
                <a:effectLst/>
                <a:latin typeface="Consolas" panose="020B0609020204030204" pitchFamily="49" charset="0"/>
              </a:rPr>
              <a:t>etl_load_log</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where</a:t>
            </a:r>
            <a:r>
              <a:rPr lang="en-US" sz="1800" dirty="0">
                <a:solidFill>
                  <a:srgbClr val="000000"/>
                </a:solidFill>
                <a:effectLst/>
                <a:latin typeface="Consolas" panose="020B0609020204030204" pitchFamily="49" charset="0"/>
              </a:rPr>
              <a:t> </a:t>
            </a:r>
            <a:r>
              <a:rPr lang="en-US" sz="1800" dirty="0" err="1">
                <a:solidFill>
                  <a:srgbClr val="006464"/>
                </a:solidFill>
                <a:effectLst/>
                <a:latin typeface="Consolas" panose="020B0609020204030204" pitchFamily="49" charset="0"/>
              </a:rPr>
              <a:t>log_dttm</a:t>
            </a:r>
            <a:r>
              <a:rPr lang="en-US" sz="1800" dirty="0">
                <a:solidFill>
                  <a:srgbClr val="000000"/>
                </a:solidFill>
                <a:effectLst/>
                <a:latin typeface="Consolas" panose="020B0609020204030204" pitchFamily="49" charset="0"/>
              </a:rPr>
              <a:t> &gt; </a:t>
            </a:r>
            <a:r>
              <a:rPr lang="en-US" sz="1800" dirty="0">
                <a:solidFill>
                  <a:srgbClr val="008000"/>
                </a:solidFill>
                <a:effectLst/>
                <a:latin typeface="Consolas" panose="020B0609020204030204" pitchFamily="49" charset="0"/>
              </a:rPr>
              <a:t>'2026-07-27'</a:t>
            </a:r>
            <a:endParaRPr lang="en-US" sz="1800" dirty="0">
              <a:solidFill>
                <a:srgbClr val="000000"/>
              </a:solidFill>
              <a:effectLst/>
              <a:latin typeface="Consolas" panose="020B0609020204030204" pitchFamily="49" charset="0"/>
            </a:endParaRPr>
          </a:p>
          <a:p>
            <a:pPr marL="0" marR="0">
              <a:spcBef>
                <a:spcPts val="0"/>
              </a:spcBef>
              <a:spcAft>
                <a:spcPts val="0"/>
              </a:spcAft>
            </a:pPr>
            <a:r>
              <a:rPr lang="en-US" sz="1800" b="1" dirty="0">
                <a:solidFill>
                  <a:srgbClr val="800000"/>
                </a:solidFill>
                <a:effectLst/>
                <a:latin typeface="Consolas" panose="020B0609020204030204" pitchFamily="49" charset="0"/>
              </a:rPr>
              <a:t>ORDER</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BY</a:t>
            </a:r>
            <a:r>
              <a:rPr lang="en-US" sz="1800" dirty="0">
                <a:solidFill>
                  <a:srgbClr val="000000"/>
                </a:solidFill>
                <a:effectLst/>
                <a:latin typeface="Consolas" panose="020B0609020204030204" pitchFamily="49" charset="0"/>
              </a:rPr>
              <a:t> </a:t>
            </a:r>
            <a:r>
              <a:rPr lang="en-US" sz="1800" dirty="0" err="1">
                <a:solidFill>
                  <a:srgbClr val="006464"/>
                </a:solidFill>
                <a:effectLst/>
                <a:latin typeface="Consolas" panose="020B0609020204030204" pitchFamily="49" charset="0"/>
              </a:rPr>
              <a:t>log_id</a:t>
            </a:r>
            <a:r>
              <a:rPr lang="en-US" sz="1800" dirty="0">
                <a:solidFill>
                  <a:srgbClr val="000000"/>
                </a:solidFill>
                <a:effectLst/>
                <a:latin typeface="Consolas" panose="020B0609020204030204" pitchFamily="49" charset="0"/>
              </a:rPr>
              <a:t> </a:t>
            </a:r>
            <a:r>
              <a:rPr lang="en-US" sz="1800" b="1" dirty="0">
                <a:solidFill>
                  <a:srgbClr val="800000"/>
                </a:solidFill>
                <a:effectLst/>
                <a:latin typeface="Consolas" panose="020B0609020204030204" pitchFamily="49" charset="0"/>
              </a:rPr>
              <a:t>DESC</a:t>
            </a:r>
            <a:r>
              <a:rPr lang="en-US" sz="1800" dirty="0">
                <a:solidFill>
                  <a:srgbClr val="FF0000"/>
                </a:solidFill>
                <a:effectLst/>
                <a:latin typeface="Consolas" panose="020B0609020204030204" pitchFamily="49" charset="0"/>
              </a:rPr>
              <a:t>;</a:t>
            </a:r>
            <a:endParaRPr lang="en-US" sz="1800" dirty="0">
              <a:solidFill>
                <a:srgbClr val="000000"/>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fld id="{91229DCC-59D3-4387-BC31-DC8272126700}" type="slidenum">
              <a:rPr lang="en-US" smtClean="0"/>
              <a:t>12</a:t>
            </a:fld>
            <a:endParaRPr lang="en-US"/>
          </a:p>
        </p:txBody>
      </p:sp>
    </p:spTree>
    <p:extLst>
      <p:ext uri="{BB962C8B-B14F-4D97-AF65-F5344CB8AC3E}">
        <p14:creationId xmlns:p14="http://schemas.microsoft.com/office/powerpoint/2010/main" val="30732549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2572F-48AD-48E8-B4AB-D509D4F45D8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43AB2E2-E269-4018-B864-78081225F4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BEFB4BB-BA2F-48BC-B3FB-33A41D30B2AA}"/>
              </a:ext>
            </a:extLst>
          </p:cNvPr>
          <p:cNvSpPr>
            <a:spLocks noGrp="1"/>
          </p:cNvSpPr>
          <p:nvPr>
            <p:ph type="dt" sz="half" idx="10"/>
          </p:nvPr>
        </p:nvSpPr>
        <p:spPr/>
        <p:txBody>
          <a:bodyPr/>
          <a:lstStyle/>
          <a:p>
            <a:fld id="{D7F58C94-658A-4488-8C03-90EC608DD718}" type="datetimeFigureOut">
              <a:rPr lang="en-US" smtClean="0"/>
              <a:t>7/31/2026</a:t>
            </a:fld>
            <a:endParaRPr lang="en-US"/>
          </a:p>
        </p:txBody>
      </p:sp>
      <p:sp>
        <p:nvSpPr>
          <p:cNvPr id="5" name="Footer Placeholder 4">
            <a:extLst>
              <a:ext uri="{FF2B5EF4-FFF2-40B4-BE49-F238E27FC236}">
                <a16:creationId xmlns:a16="http://schemas.microsoft.com/office/drawing/2014/main" id="{29F13762-8DC3-458E-B8E6-D9277663C0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AD145DF-C4C6-489D-AB49-53C79CAF1088}"/>
              </a:ext>
            </a:extLst>
          </p:cNvPr>
          <p:cNvSpPr>
            <a:spLocks noGrp="1"/>
          </p:cNvSpPr>
          <p:nvPr>
            <p:ph type="sldNum" sz="quarter" idx="12"/>
          </p:nvPr>
        </p:nvSpPr>
        <p:spPr/>
        <p:txBody>
          <a:bodyPr/>
          <a:lstStyle/>
          <a:p>
            <a:fld id="{280B6230-E3EF-458D-A885-E0D18945DDF6}" type="slidenum">
              <a:rPr lang="en-US" smtClean="0"/>
              <a:t>‹#›</a:t>
            </a:fld>
            <a:endParaRPr lang="en-US"/>
          </a:p>
        </p:txBody>
      </p:sp>
    </p:spTree>
    <p:extLst>
      <p:ext uri="{BB962C8B-B14F-4D97-AF65-F5344CB8AC3E}">
        <p14:creationId xmlns:p14="http://schemas.microsoft.com/office/powerpoint/2010/main" val="4056040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A5BAC-CC9A-416E-A5EC-261F867BBA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E681CE9-5C50-45B7-82FB-D50DC06B72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49B8ED-D031-4D56-9B78-5CD667D76D16}"/>
              </a:ext>
            </a:extLst>
          </p:cNvPr>
          <p:cNvSpPr>
            <a:spLocks noGrp="1"/>
          </p:cNvSpPr>
          <p:nvPr>
            <p:ph type="dt" sz="half" idx="10"/>
          </p:nvPr>
        </p:nvSpPr>
        <p:spPr/>
        <p:txBody>
          <a:bodyPr/>
          <a:lstStyle/>
          <a:p>
            <a:fld id="{D7F58C94-658A-4488-8C03-90EC608DD718}" type="datetimeFigureOut">
              <a:rPr lang="en-US" smtClean="0"/>
              <a:t>7/31/2026</a:t>
            </a:fld>
            <a:endParaRPr lang="en-US"/>
          </a:p>
        </p:txBody>
      </p:sp>
      <p:sp>
        <p:nvSpPr>
          <p:cNvPr id="5" name="Footer Placeholder 4">
            <a:extLst>
              <a:ext uri="{FF2B5EF4-FFF2-40B4-BE49-F238E27FC236}">
                <a16:creationId xmlns:a16="http://schemas.microsoft.com/office/drawing/2014/main" id="{587A407C-21A4-4835-93EA-328102BA1B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C89CB3-2FCD-46EA-9292-0D43213D725B}"/>
              </a:ext>
            </a:extLst>
          </p:cNvPr>
          <p:cNvSpPr>
            <a:spLocks noGrp="1"/>
          </p:cNvSpPr>
          <p:nvPr>
            <p:ph type="sldNum" sz="quarter" idx="12"/>
          </p:nvPr>
        </p:nvSpPr>
        <p:spPr/>
        <p:txBody>
          <a:bodyPr/>
          <a:lstStyle/>
          <a:p>
            <a:fld id="{280B6230-E3EF-458D-A885-E0D18945DDF6}" type="slidenum">
              <a:rPr lang="en-US" smtClean="0"/>
              <a:t>‹#›</a:t>
            </a:fld>
            <a:endParaRPr lang="en-US"/>
          </a:p>
        </p:txBody>
      </p:sp>
    </p:spTree>
    <p:extLst>
      <p:ext uri="{BB962C8B-B14F-4D97-AF65-F5344CB8AC3E}">
        <p14:creationId xmlns:p14="http://schemas.microsoft.com/office/powerpoint/2010/main" val="1345150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DCD0E-A1C4-4184-888D-BDDC1819F11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FAF5FEA-0758-49E5-A618-2F817C1BAE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D98CBB-B781-4519-80D0-3887C44DE0BE}"/>
              </a:ext>
            </a:extLst>
          </p:cNvPr>
          <p:cNvSpPr>
            <a:spLocks noGrp="1"/>
          </p:cNvSpPr>
          <p:nvPr>
            <p:ph type="dt" sz="half" idx="10"/>
          </p:nvPr>
        </p:nvSpPr>
        <p:spPr/>
        <p:txBody>
          <a:bodyPr/>
          <a:lstStyle/>
          <a:p>
            <a:fld id="{D7F58C94-658A-4488-8C03-90EC608DD718}" type="datetimeFigureOut">
              <a:rPr lang="en-US" smtClean="0"/>
              <a:t>7/31/2026</a:t>
            </a:fld>
            <a:endParaRPr lang="en-US"/>
          </a:p>
        </p:txBody>
      </p:sp>
      <p:sp>
        <p:nvSpPr>
          <p:cNvPr id="5" name="Footer Placeholder 4">
            <a:extLst>
              <a:ext uri="{FF2B5EF4-FFF2-40B4-BE49-F238E27FC236}">
                <a16:creationId xmlns:a16="http://schemas.microsoft.com/office/drawing/2014/main" id="{5AD4E881-FB67-4A60-AD36-BD77A9DC48E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9FCC78-D817-454C-A21D-8F1FA2E45064}"/>
              </a:ext>
            </a:extLst>
          </p:cNvPr>
          <p:cNvSpPr>
            <a:spLocks noGrp="1"/>
          </p:cNvSpPr>
          <p:nvPr>
            <p:ph type="sldNum" sz="quarter" idx="12"/>
          </p:nvPr>
        </p:nvSpPr>
        <p:spPr/>
        <p:txBody>
          <a:bodyPr/>
          <a:lstStyle/>
          <a:p>
            <a:fld id="{280B6230-E3EF-458D-A885-E0D18945DDF6}" type="slidenum">
              <a:rPr lang="en-US" smtClean="0"/>
              <a:t>‹#›</a:t>
            </a:fld>
            <a:endParaRPr lang="en-US"/>
          </a:p>
        </p:txBody>
      </p:sp>
    </p:spTree>
    <p:extLst>
      <p:ext uri="{BB962C8B-B14F-4D97-AF65-F5344CB8AC3E}">
        <p14:creationId xmlns:p14="http://schemas.microsoft.com/office/powerpoint/2010/main" val="9385029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657ECC-0D3B-4E6F-BCB5-09BCF65F7BE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178857-F533-4A24-BCA7-F597D269E1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89F5EC-CC8C-4F9D-AAFF-A501A5C0951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7B09DB3-76C8-4764-8C93-5C5DD537A942}"/>
              </a:ext>
            </a:extLst>
          </p:cNvPr>
          <p:cNvSpPr>
            <a:spLocks noGrp="1"/>
          </p:cNvSpPr>
          <p:nvPr>
            <p:ph type="dt" sz="half" idx="10"/>
          </p:nvPr>
        </p:nvSpPr>
        <p:spPr/>
        <p:txBody>
          <a:bodyPr/>
          <a:lstStyle/>
          <a:p>
            <a:fld id="{D7F58C94-658A-4488-8C03-90EC608DD718}" type="datetimeFigureOut">
              <a:rPr lang="en-US" smtClean="0"/>
              <a:t>7/31/2026</a:t>
            </a:fld>
            <a:endParaRPr lang="en-US"/>
          </a:p>
        </p:txBody>
      </p:sp>
      <p:sp>
        <p:nvSpPr>
          <p:cNvPr id="6" name="Footer Placeholder 5">
            <a:extLst>
              <a:ext uri="{FF2B5EF4-FFF2-40B4-BE49-F238E27FC236}">
                <a16:creationId xmlns:a16="http://schemas.microsoft.com/office/drawing/2014/main" id="{2729944C-ABF3-4A13-91A1-011155D31E4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AB7003-1C00-4C0F-BCDB-EF17682D7DA6}"/>
              </a:ext>
            </a:extLst>
          </p:cNvPr>
          <p:cNvSpPr>
            <a:spLocks noGrp="1"/>
          </p:cNvSpPr>
          <p:nvPr>
            <p:ph type="sldNum" sz="quarter" idx="12"/>
          </p:nvPr>
        </p:nvSpPr>
        <p:spPr/>
        <p:txBody>
          <a:bodyPr/>
          <a:lstStyle/>
          <a:p>
            <a:fld id="{280B6230-E3EF-458D-A885-E0D18945DDF6}" type="slidenum">
              <a:rPr lang="en-US" smtClean="0"/>
              <a:t>‹#›</a:t>
            </a:fld>
            <a:endParaRPr lang="en-US"/>
          </a:p>
        </p:txBody>
      </p:sp>
    </p:spTree>
    <p:extLst>
      <p:ext uri="{BB962C8B-B14F-4D97-AF65-F5344CB8AC3E}">
        <p14:creationId xmlns:p14="http://schemas.microsoft.com/office/powerpoint/2010/main" val="3570151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99590-F0C1-4E51-B5F7-EBA1F68966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10ED8E-3B88-4B00-97E4-E06CBD45CE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69824A6-2B73-4A0E-8223-00D849E914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84E1BF2-C6A6-463E-9D67-98E23CC0F0D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7A40EF4-E224-4042-87DC-CC9DAF75AD6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DD0CA94-AB59-436A-A678-47FA0568102C}"/>
              </a:ext>
            </a:extLst>
          </p:cNvPr>
          <p:cNvSpPr>
            <a:spLocks noGrp="1"/>
          </p:cNvSpPr>
          <p:nvPr>
            <p:ph type="dt" sz="half" idx="10"/>
          </p:nvPr>
        </p:nvSpPr>
        <p:spPr/>
        <p:txBody>
          <a:bodyPr/>
          <a:lstStyle/>
          <a:p>
            <a:fld id="{D7F58C94-658A-4488-8C03-90EC608DD718}" type="datetimeFigureOut">
              <a:rPr lang="en-US" smtClean="0"/>
              <a:t>7/31/2026</a:t>
            </a:fld>
            <a:endParaRPr lang="en-US"/>
          </a:p>
        </p:txBody>
      </p:sp>
      <p:sp>
        <p:nvSpPr>
          <p:cNvPr id="8" name="Footer Placeholder 7">
            <a:extLst>
              <a:ext uri="{FF2B5EF4-FFF2-40B4-BE49-F238E27FC236}">
                <a16:creationId xmlns:a16="http://schemas.microsoft.com/office/drawing/2014/main" id="{D784F713-6AC0-4EAA-A42C-BD6DAAFA9A2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98F52AA-E306-4B46-9EA7-016FA1A68883}"/>
              </a:ext>
            </a:extLst>
          </p:cNvPr>
          <p:cNvSpPr>
            <a:spLocks noGrp="1"/>
          </p:cNvSpPr>
          <p:nvPr>
            <p:ph type="sldNum" sz="quarter" idx="12"/>
          </p:nvPr>
        </p:nvSpPr>
        <p:spPr/>
        <p:txBody>
          <a:bodyPr/>
          <a:lstStyle/>
          <a:p>
            <a:fld id="{280B6230-E3EF-458D-A885-E0D18945DDF6}" type="slidenum">
              <a:rPr lang="en-US" smtClean="0"/>
              <a:t>‹#›</a:t>
            </a:fld>
            <a:endParaRPr lang="en-US"/>
          </a:p>
        </p:txBody>
      </p:sp>
    </p:spTree>
    <p:extLst>
      <p:ext uri="{BB962C8B-B14F-4D97-AF65-F5344CB8AC3E}">
        <p14:creationId xmlns:p14="http://schemas.microsoft.com/office/powerpoint/2010/main" val="17910298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C688A-2E0E-47D3-8794-208461E0D71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AD21D23-DF6C-4FC1-AD6F-540DEF674268}"/>
              </a:ext>
            </a:extLst>
          </p:cNvPr>
          <p:cNvSpPr>
            <a:spLocks noGrp="1"/>
          </p:cNvSpPr>
          <p:nvPr>
            <p:ph type="dt" sz="half" idx="10"/>
          </p:nvPr>
        </p:nvSpPr>
        <p:spPr/>
        <p:txBody>
          <a:bodyPr/>
          <a:lstStyle/>
          <a:p>
            <a:fld id="{D7F58C94-658A-4488-8C03-90EC608DD718}" type="datetimeFigureOut">
              <a:rPr lang="en-US" smtClean="0"/>
              <a:t>7/31/2026</a:t>
            </a:fld>
            <a:endParaRPr lang="en-US"/>
          </a:p>
        </p:txBody>
      </p:sp>
      <p:sp>
        <p:nvSpPr>
          <p:cNvPr id="4" name="Footer Placeholder 3">
            <a:extLst>
              <a:ext uri="{FF2B5EF4-FFF2-40B4-BE49-F238E27FC236}">
                <a16:creationId xmlns:a16="http://schemas.microsoft.com/office/drawing/2014/main" id="{60871BFF-4EE6-4656-BC19-55B712A1059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E34B2F55-C5C7-4BCD-B904-6BC8968F32A5}"/>
              </a:ext>
            </a:extLst>
          </p:cNvPr>
          <p:cNvSpPr>
            <a:spLocks noGrp="1"/>
          </p:cNvSpPr>
          <p:nvPr>
            <p:ph type="sldNum" sz="quarter" idx="12"/>
          </p:nvPr>
        </p:nvSpPr>
        <p:spPr/>
        <p:txBody>
          <a:bodyPr/>
          <a:lstStyle/>
          <a:p>
            <a:fld id="{280B6230-E3EF-458D-A885-E0D18945DDF6}" type="slidenum">
              <a:rPr lang="en-US" smtClean="0"/>
              <a:t>‹#›</a:t>
            </a:fld>
            <a:endParaRPr lang="en-US"/>
          </a:p>
        </p:txBody>
      </p:sp>
    </p:spTree>
    <p:extLst>
      <p:ext uri="{BB962C8B-B14F-4D97-AF65-F5344CB8AC3E}">
        <p14:creationId xmlns:p14="http://schemas.microsoft.com/office/powerpoint/2010/main" val="1341167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8F07BC0-033B-40F9-A914-4BD291F7ECE7}"/>
              </a:ext>
            </a:extLst>
          </p:cNvPr>
          <p:cNvSpPr>
            <a:spLocks noGrp="1"/>
          </p:cNvSpPr>
          <p:nvPr>
            <p:ph type="dt" sz="half" idx="10"/>
          </p:nvPr>
        </p:nvSpPr>
        <p:spPr/>
        <p:txBody>
          <a:bodyPr/>
          <a:lstStyle/>
          <a:p>
            <a:fld id="{D7F58C94-658A-4488-8C03-90EC608DD718}" type="datetimeFigureOut">
              <a:rPr lang="en-US" smtClean="0"/>
              <a:t>7/31/2026</a:t>
            </a:fld>
            <a:endParaRPr lang="en-US"/>
          </a:p>
        </p:txBody>
      </p:sp>
      <p:sp>
        <p:nvSpPr>
          <p:cNvPr id="3" name="Footer Placeholder 2">
            <a:extLst>
              <a:ext uri="{FF2B5EF4-FFF2-40B4-BE49-F238E27FC236}">
                <a16:creationId xmlns:a16="http://schemas.microsoft.com/office/drawing/2014/main" id="{3F982C54-1107-4982-8A40-C7D767E5C01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80E354-519E-4CA5-8CCA-90BBAC2C8497}"/>
              </a:ext>
            </a:extLst>
          </p:cNvPr>
          <p:cNvSpPr>
            <a:spLocks noGrp="1"/>
          </p:cNvSpPr>
          <p:nvPr>
            <p:ph type="sldNum" sz="quarter" idx="12"/>
          </p:nvPr>
        </p:nvSpPr>
        <p:spPr/>
        <p:txBody>
          <a:bodyPr/>
          <a:lstStyle/>
          <a:p>
            <a:fld id="{280B6230-E3EF-458D-A885-E0D18945DDF6}" type="slidenum">
              <a:rPr lang="en-US" smtClean="0"/>
              <a:t>‹#›</a:t>
            </a:fld>
            <a:endParaRPr lang="en-US"/>
          </a:p>
        </p:txBody>
      </p:sp>
    </p:spTree>
    <p:extLst>
      <p:ext uri="{BB962C8B-B14F-4D97-AF65-F5344CB8AC3E}">
        <p14:creationId xmlns:p14="http://schemas.microsoft.com/office/powerpoint/2010/main" val="1591652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F30EA-E980-4F54-A049-390FEFCEDC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33D5EA4-6532-4664-8501-C677DB444F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0B18119-AA10-4573-BB27-7AEAD7B277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34DC35-BD2D-4801-A59F-A520957F3FC0}"/>
              </a:ext>
            </a:extLst>
          </p:cNvPr>
          <p:cNvSpPr>
            <a:spLocks noGrp="1"/>
          </p:cNvSpPr>
          <p:nvPr>
            <p:ph type="dt" sz="half" idx="10"/>
          </p:nvPr>
        </p:nvSpPr>
        <p:spPr/>
        <p:txBody>
          <a:bodyPr/>
          <a:lstStyle/>
          <a:p>
            <a:fld id="{D7F58C94-658A-4488-8C03-90EC608DD718}" type="datetimeFigureOut">
              <a:rPr lang="en-US" smtClean="0"/>
              <a:t>7/31/2026</a:t>
            </a:fld>
            <a:endParaRPr lang="en-US"/>
          </a:p>
        </p:txBody>
      </p:sp>
      <p:sp>
        <p:nvSpPr>
          <p:cNvPr id="6" name="Footer Placeholder 5">
            <a:extLst>
              <a:ext uri="{FF2B5EF4-FFF2-40B4-BE49-F238E27FC236}">
                <a16:creationId xmlns:a16="http://schemas.microsoft.com/office/drawing/2014/main" id="{B4F64CE2-1CA5-496A-880B-4B81A2AC4E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A822E5E-63CB-48A2-AB28-6DD33836F9B2}"/>
              </a:ext>
            </a:extLst>
          </p:cNvPr>
          <p:cNvSpPr>
            <a:spLocks noGrp="1"/>
          </p:cNvSpPr>
          <p:nvPr>
            <p:ph type="sldNum" sz="quarter" idx="12"/>
          </p:nvPr>
        </p:nvSpPr>
        <p:spPr/>
        <p:txBody>
          <a:bodyPr/>
          <a:lstStyle/>
          <a:p>
            <a:fld id="{280B6230-E3EF-458D-A885-E0D18945DDF6}" type="slidenum">
              <a:rPr lang="en-US" smtClean="0"/>
              <a:t>‹#›</a:t>
            </a:fld>
            <a:endParaRPr lang="en-US"/>
          </a:p>
        </p:txBody>
      </p:sp>
    </p:spTree>
    <p:extLst>
      <p:ext uri="{BB962C8B-B14F-4D97-AF65-F5344CB8AC3E}">
        <p14:creationId xmlns:p14="http://schemas.microsoft.com/office/powerpoint/2010/main" val="36186768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F0102-00D8-4176-949F-7ECE7B3CCB9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0FA128-41AB-4550-8A33-B2187A719F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9FE185-AA21-4497-AA52-529BF22135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7CA58B-3504-4525-80EB-8C8B4B253487}"/>
              </a:ext>
            </a:extLst>
          </p:cNvPr>
          <p:cNvSpPr>
            <a:spLocks noGrp="1"/>
          </p:cNvSpPr>
          <p:nvPr>
            <p:ph type="dt" sz="half" idx="10"/>
          </p:nvPr>
        </p:nvSpPr>
        <p:spPr/>
        <p:txBody>
          <a:bodyPr/>
          <a:lstStyle/>
          <a:p>
            <a:fld id="{D7F58C94-658A-4488-8C03-90EC608DD718}" type="datetimeFigureOut">
              <a:rPr lang="en-US" smtClean="0"/>
              <a:t>7/31/2026</a:t>
            </a:fld>
            <a:endParaRPr lang="en-US"/>
          </a:p>
        </p:txBody>
      </p:sp>
      <p:sp>
        <p:nvSpPr>
          <p:cNvPr id="6" name="Footer Placeholder 5">
            <a:extLst>
              <a:ext uri="{FF2B5EF4-FFF2-40B4-BE49-F238E27FC236}">
                <a16:creationId xmlns:a16="http://schemas.microsoft.com/office/drawing/2014/main" id="{03AFC1D1-0D85-4BE9-840D-EB2070D595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FC49A31-4376-467D-A9F7-2ED904AAC01F}"/>
              </a:ext>
            </a:extLst>
          </p:cNvPr>
          <p:cNvSpPr>
            <a:spLocks noGrp="1"/>
          </p:cNvSpPr>
          <p:nvPr>
            <p:ph type="sldNum" sz="quarter" idx="12"/>
          </p:nvPr>
        </p:nvSpPr>
        <p:spPr/>
        <p:txBody>
          <a:bodyPr/>
          <a:lstStyle/>
          <a:p>
            <a:fld id="{280B6230-E3EF-458D-A885-E0D18945DDF6}" type="slidenum">
              <a:rPr lang="en-US" smtClean="0"/>
              <a:t>‹#›</a:t>
            </a:fld>
            <a:endParaRPr lang="en-US"/>
          </a:p>
        </p:txBody>
      </p:sp>
    </p:spTree>
    <p:extLst>
      <p:ext uri="{BB962C8B-B14F-4D97-AF65-F5344CB8AC3E}">
        <p14:creationId xmlns:p14="http://schemas.microsoft.com/office/powerpoint/2010/main" val="11330415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7BAFD-708F-46A0-BFA4-B0102DA1321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C416E40-A36A-49C8-8D4D-9CF8EDDF3F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9408608-DD6E-4017-AEFF-EAE449676888}"/>
              </a:ext>
            </a:extLst>
          </p:cNvPr>
          <p:cNvSpPr>
            <a:spLocks noGrp="1"/>
          </p:cNvSpPr>
          <p:nvPr>
            <p:ph type="dt" sz="half" idx="10"/>
          </p:nvPr>
        </p:nvSpPr>
        <p:spPr/>
        <p:txBody>
          <a:bodyPr/>
          <a:lstStyle/>
          <a:p>
            <a:fld id="{D7F58C94-658A-4488-8C03-90EC608DD718}" type="datetimeFigureOut">
              <a:rPr lang="en-US" smtClean="0"/>
              <a:t>7/31/2026</a:t>
            </a:fld>
            <a:endParaRPr lang="en-US"/>
          </a:p>
        </p:txBody>
      </p:sp>
      <p:sp>
        <p:nvSpPr>
          <p:cNvPr id="5" name="Footer Placeholder 4">
            <a:extLst>
              <a:ext uri="{FF2B5EF4-FFF2-40B4-BE49-F238E27FC236}">
                <a16:creationId xmlns:a16="http://schemas.microsoft.com/office/drawing/2014/main" id="{F09BF1C6-38A3-4DA2-AB87-62BA4DCDE3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AE87E9F-50B9-421D-9DC2-E26E2FDFFDC5}"/>
              </a:ext>
            </a:extLst>
          </p:cNvPr>
          <p:cNvSpPr>
            <a:spLocks noGrp="1"/>
          </p:cNvSpPr>
          <p:nvPr>
            <p:ph type="sldNum" sz="quarter" idx="12"/>
          </p:nvPr>
        </p:nvSpPr>
        <p:spPr/>
        <p:txBody>
          <a:bodyPr/>
          <a:lstStyle/>
          <a:p>
            <a:fld id="{280B6230-E3EF-458D-A885-E0D18945DDF6}" type="slidenum">
              <a:rPr lang="en-US" smtClean="0"/>
              <a:t>‹#›</a:t>
            </a:fld>
            <a:endParaRPr lang="en-US"/>
          </a:p>
        </p:txBody>
      </p:sp>
    </p:spTree>
    <p:extLst>
      <p:ext uri="{BB962C8B-B14F-4D97-AF65-F5344CB8AC3E}">
        <p14:creationId xmlns:p14="http://schemas.microsoft.com/office/powerpoint/2010/main" val="7385375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FC50976-975D-4194-A9A3-DEA6DCB244E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39C3C02-09D3-4B9F-B350-6CE772516B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9568D0-C683-425E-B260-0490BE70E277}"/>
              </a:ext>
            </a:extLst>
          </p:cNvPr>
          <p:cNvSpPr>
            <a:spLocks noGrp="1"/>
          </p:cNvSpPr>
          <p:nvPr>
            <p:ph type="dt" sz="half" idx="10"/>
          </p:nvPr>
        </p:nvSpPr>
        <p:spPr/>
        <p:txBody>
          <a:bodyPr/>
          <a:lstStyle/>
          <a:p>
            <a:fld id="{D7F58C94-658A-4488-8C03-90EC608DD718}" type="datetimeFigureOut">
              <a:rPr lang="en-US" smtClean="0"/>
              <a:t>7/31/2026</a:t>
            </a:fld>
            <a:endParaRPr lang="en-US"/>
          </a:p>
        </p:txBody>
      </p:sp>
      <p:sp>
        <p:nvSpPr>
          <p:cNvPr id="5" name="Footer Placeholder 4">
            <a:extLst>
              <a:ext uri="{FF2B5EF4-FFF2-40B4-BE49-F238E27FC236}">
                <a16:creationId xmlns:a16="http://schemas.microsoft.com/office/drawing/2014/main" id="{5EC58B22-E5A4-4AC1-AD9A-A2D4D67A05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20E451-04EE-404C-A18A-E22806C5B90D}"/>
              </a:ext>
            </a:extLst>
          </p:cNvPr>
          <p:cNvSpPr>
            <a:spLocks noGrp="1"/>
          </p:cNvSpPr>
          <p:nvPr>
            <p:ph type="sldNum" sz="quarter" idx="12"/>
          </p:nvPr>
        </p:nvSpPr>
        <p:spPr/>
        <p:txBody>
          <a:bodyPr/>
          <a:lstStyle/>
          <a:p>
            <a:fld id="{280B6230-E3EF-458D-A885-E0D18945DDF6}" type="slidenum">
              <a:rPr lang="en-US" smtClean="0"/>
              <a:t>‹#›</a:t>
            </a:fld>
            <a:endParaRPr lang="en-US"/>
          </a:p>
        </p:txBody>
      </p:sp>
    </p:spTree>
    <p:extLst>
      <p:ext uri="{BB962C8B-B14F-4D97-AF65-F5344CB8AC3E}">
        <p14:creationId xmlns:p14="http://schemas.microsoft.com/office/powerpoint/2010/main" val="3833477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1DB3CB-198F-4CD9-A6FF-326D683FE2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1D59EE-562E-4FB3-A167-ADB9D201706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E3F599-797F-4472-9FBB-05030AE0D9C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F58C94-658A-4488-8C03-90EC608DD718}" type="datetimeFigureOut">
              <a:rPr lang="en-US" smtClean="0"/>
              <a:t>7/31/2026</a:t>
            </a:fld>
            <a:endParaRPr lang="en-US"/>
          </a:p>
        </p:txBody>
      </p:sp>
      <p:sp>
        <p:nvSpPr>
          <p:cNvPr id="5" name="Footer Placeholder 4">
            <a:extLst>
              <a:ext uri="{FF2B5EF4-FFF2-40B4-BE49-F238E27FC236}">
                <a16:creationId xmlns:a16="http://schemas.microsoft.com/office/drawing/2014/main" id="{6BFFA22C-095A-4FB1-8C90-EBFFE8D14DC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E45DE89-6521-4602-904F-7D46EF4413C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0B6230-E3EF-458D-A885-E0D18945DDF6}" type="slidenum">
              <a:rPr lang="en-US" smtClean="0"/>
              <a:t>‹#›</a:t>
            </a:fld>
            <a:endParaRPr lang="en-US"/>
          </a:p>
        </p:txBody>
      </p:sp>
    </p:spTree>
    <p:extLst>
      <p:ext uri="{BB962C8B-B14F-4D97-AF65-F5344CB8AC3E}">
        <p14:creationId xmlns:p14="http://schemas.microsoft.com/office/powerpoint/2010/main" val="35880097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606CB6-48BC-4368-95DB-C0B9F71648BA}"/>
              </a:ext>
            </a:extLst>
          </p:cNvPr>
          <p:cNvSpPr>
            <a:spLocks noGrp="1"/>
          </p:cNvSpPr>
          <p:nvPr>
            <p:ph type="ctrTitle"/>
          </p:nvPr>
        </p:nvSpPr>
        <p:spPr>
          <a:xfrm>
            <a:off x="1524000" y="1122363"/>
            <a:ext cx="9144000" cy="791497"/>
          </a:xfrm>
        </p:spPr>
        <p:txBody>
          <a:bodyPr>
            <a:normAutofit/>
          </a:bodyPr>
          <a:lstStyle/>
          <a:p>
            <a:r>
              <a:rPr lang="en-US" sz="4800" dirty="0">
                <a:effectLst/>
                <a:latin typeface="Times New Roman" panose="02020603050405020304" pitchFamily="18" charset="0"/>
                <a:ea typeface="Times New Roman" panose="02020603050405020304" pitchFamily="18" charset="0"/>
              </a:rPr>
              <a:t>Airline Ticket Retail Sales</a:t>
            </a:r>
            <a:endParaRPr lang="en-US" sz="4800" dirty="0"/>
          </a:p>
        </p:txBody>
      </p:sp>
      <p:sp>
        <p:nvSpPr>
          <p:cNvPr id="3" name="Subtitle 2">
            <a:extLst>
              <a:ext uri="{FF2B5EF4-FFF2-40B4-BE49-F238E27FC236}">
                <a16:creationId xmlns:a16="http://schemas.microsoft.com/office/drawing/2014/main" id="{B446E4FE-FD70-46D7-9739-1F125D0A584A}"/>
              </a:ext>
            </a:extLst>
          </p:cNvPr>
          <p:cNvSpPr>
            <a:spLocks noGrp="1"/>
          </p:cNvSpPr>
          <p:nvPr>
            <p:ph type="subTitle" idx="1"/>
          </p:nvPr>
        </p:nvSpPr>
        <p:spPr>
          <a:xfrm>
            <a:off x="1524000" y="4614530"/>
            <a:ext cx="9144000" cy="643270"/>
          </a:xfrm>
        </p:spPr>
        <p:txBody>
          <a:bodyPr/>
          <a:lstStyle/>
          <a:p>
            <a:pPr algn="l"/>
            <a:r>
              <a:rPr lang="en-US" dirty="0"/>
              <a:t>Bohdan Solovei</a:t>
            </a:r>
          </a:p>
        </p:txBody>
      </p:sp>
    </p:spTree>
    <p:extLst>
      <p:ext uri="{BB962C8B-B14F-4D97-AF65-F5344CB8AC3E}">
        <p14:creationId xmlns:p14="http://schemas.microsoft.com/office/powerpoint/2010/main" val="39288148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752CA-A017-461D-AAF6-31F58E074C5A}"/>
              </a:ext>
            </a:extLst>
          </p:cNvPr>
          <p:cNvSpPr>
            <a:spLocks noGrp="1"/>
          </p:cNvSpPr>
          <p:nvPr>
            <p:ph type="title"/>
          </p:nvPr>
        </p:nvSpPr>
        <p:spPr>
          <a:xfrm>
            <a:off x="593651" y="109945"/>
            <a:ext cx="10515600" cy="538642"/>
          </a:xfrm>
        </p:spPr>
        <p:txBody>
          <a:bodyPr/>
          <a:lstStyle/>
          <a:p>
            <a:pPr algn="ctr"/>
            <a:r>
              <a:rPr lang="en-US" sz="1800" b="1" cap="all" dirty="0">
                <a:solidFill>
                  <a:srgbClr val="1A9CB0"/>
                </a:solidFill>
                <a:effectLst/>
                <a:latin typeface="Arial Black" panose="020B0A04020102020204" pitchFamily="34" charset="0"/>
                <a:ea typeface="Times New Roman" panose="02020603050405020304" pitchFamily="18" charset="0"/>
                <a:cs typeface="Times New Roman" panose="02020603050405020304" pitchFamily="18" charset="0"/>
              </a:rPr>
              <a:t>Business background</a:t>
            </a:r>
            <a:endParaRPr lang="en-US" dirty="0"/>
          </a:p>
        </p:txBody>
      </p:sp>
      <p:sp>
        <p:nvSpPr>
          <p:cNvPr id="4" name="TextBox 3">
            <a:extLst>
              <a:ext uri="{FF2B5EF4-FFF2-40B4-BE49-F238E27FC236}">
                <a16:creationId xmlns:a16="http://schemas.microsoft.com/office/drawing/2014/main" id="{D356EFB5-5E99-4BB8-8981-497441B74174}"/>
              </a:ext>
            </a:extLst>
          </p:cNvPr>
          <p:cNvSpPr txBox="1"/>
          <p:nvPr/>
        </p:nvSpPr>
        <p:spPr>
          <a:xfrm>
            <a:off x="253409" y="1845931"/>
            <a:ext cx="11196084" cy="1354217"/>
          </a:xfrm>
          <a:prstGeom prst="rect">
            <a:avLst/>
          </a:prstGeom>
          <a:noFill/>
        </p:spPr>
        <p:txBody>
          <a:bodyPr wrap="square">
            <a:spAutoFit/>
          </a:bodyPr>
          <a:lstStyle/>
          <a:p>
            <a:pPr marL="0" marR="0">
              <a:spcBef>
                <a:spcPts val="600"/>
              </a:spcBef>
              <a:spcAft>
                <a:spcPts val="0"/>
              </a:spcAft>
            </a:pPr>
            <a:r>
              <a:rPr lang="en-US" sz="1800" dirty="0">
                <a:solidFill>
                  <a:srgbClr val="464547"/>
                </a:solidFill>
                <a:effectLst/>
                <a:latin typeface="Trebuchet MS" panose="020B0603020202020204" pitchFamily="34" charset="0"/>
                <a:ea typeface="Times New Roman" panose="02020603050405020304" pitchFamily="18" charset="0"/>
                <a:cs typeface="Times New Roman" panose="02020603050405020304" pitchFamily="18" charset="0"/>
              </a:rPr>
              <a:t>The selected business domain is Airline Ticket Retail Sales. Two source systems are used to populate the data warehouse.</a:t>
            </a:r>
          </a:p>
          <a:p>
            <a:pPr marL="0" marR="0">
              <a:spcBef>
                <a:spcPts val="600"/>
              </a:spcBef>
              <a:spcAft>
                <a:spcPts val="0"/>
              </a:spcAft>
            </a:pPr>
            <a:r>
              <a:rPr lang="en-US" sz="1800" dirty="0">
                <a:solidFill>
                  <a:srgbClr val="464547"/>
                </a:solidFill>
                <a:effectLst/>
                <a:latin typeface="Trebuchet MS" panose="020B0603020202020204" pitchFamily="34" charset="0"/>
                <a:ea typeface="Times New Roman" panose="02020603050405020304" pitchFamily="18" charset="0"/>
                <a:cs typeface="Times New Roman" panose="02020603050405020304" pitchFamily="18" charset="0"/>
              </a:rPr>
              <a:t>Source System 1 – Customer Satisfaction System</a:t>
            </a:r>
          </a:p>
          <a:p>
            <a:pPr marL="0" marR="0">
              <a:spcBef>
                <a:spcPts val="600"/>
              </a:spcBef>
              <a:spcAft>
                <a:spcPts val="0"/>
              </a:spcAft>
            </a:pPr>
            <a:r>
              <a:rPr lang="en-US" sz="1800" dirty="0">
                <a:solidFill>
                  <a:srgbClr val="464547"/>
                </a:solidFill>
                <a:effectLst/>
                <a:latin typeface="Trebuchet MS" panose="020B0603020202020204" pitchFamily="34" charset="0"/>
                <a:ea typeface="Times New Roman" panose="02020603050405020304" pitchFamily="18" charset="0"/>
                <a:cs typeface="Times New Roman" panose="02020603050405020304" pitchFamily="18" charset="0"/>
              </a:rPr>
              <a:t>Source System 2 – Booking and Sales System</a:t>
            </a:r>
          </a:p>
        </p:txBody>
      </p:sp>
    </p:spTree>
    <p:extLst>
      <p:ext uri="{BB962C8B-B14F-4D97-AF65-F5344CB8AC3E}">
        <p14:creationId xmlns:p14="http://schemas.microsoft.com/office/powerpoint/2010/main" val="3228461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18365-EC1F-4BF2-A45D-487BF9A2B966}"/>
              </a:ext>
            </a:extLst>
          </p:cNvPr>
          <p:cNvSpPr>
            <a:spLocks noGrp="1"/>
          </p:cNvSpPr>
          <p:nvPr>
            <p:ph type="title"/>
          </p:nvPr>
        </p:nvSpPr>
        <p:spPr/>
        <p:txBody>
          <a:bodyPr/>
          <a:lstStyle/>
          <a:p>
            <a:r>
              <a:rPr lang="en-US" sz="1800" b="1" cap="all" dirty="0">
                <a:solidFill>
                  <a:srgbClr val="1A9CB0"/>
                </a:solidFill>
                <a:effectLst/>
                <a:latin typeface="Arial Black" panose="020B0A04020102020204" pitchFamily="34" charset="0"/>
                <a:ea typeface="Times New Roman" panose="02020603050405020304" pitchFamily="18" charset="0"/>
                <a:cs typeface="Times New Roman" panose="02020603050405020304" pitchFamily="18" charset="0"/>
              </a:rPr>
              <a:t>Problems because of poor data management</a:t>
            </a:r>
            <a:endParaRPr lang="en-US" dirty="0"/>
          </a:p>
        </p:txBody>
      </p:sp>
      <p:sp>
        <p:nvSpPr>
          <p:cNvPr id="4" name="TextBox 3">
            <a:extLst>
              <a:ext uri="{FF2B5EF4-FFF2-40B4-BE49-F238E27FC236}">
                <a16:creationId xmlns:a16="http://schemas.microsoft.com/office/drawing/2014/main" id="{92306C54-949A-4124-AC6B-7E97968CEEE8}"/>
              </a:ext>
            </a:extLst>
          </p:cNvPr>
          <p:cNvSpPr txBox="1"/>
          <p:nvPr/>
        </p:nvSpPr>
        <p:spPr>
          <a:xfrm>
            <a:off x="838200" y="1428453"/>
            <a:ext cx="10515600" cy="2539157"/>
          </a:xfrm>
          <a:prstGeom prst="rect">
            <a:avLst/>
          </a:prstGeom>
          <a:noFill/>
        </p:spPr>
        <p:txBody>
          <a:bodyPr wrap="square">
            <a:spAutoFit/>
          </a:bodyPr>
          <a:lstStyle/>
          <a:p>
            <a:pPr marL="0" marR="0">
              <a:spcBef>
                <a:spcPts val="600"/>
              </a:spcBef>
              <a:spcAft>
                <a:spcPts val="0"/>
              </a:spcAft>
            </a:pPr>
            <a:r>
              <a:rPr lang="en-US" sz="1800" b="1" dirty="0">
                <a:solidFill>
                  <a:srgbClr val="464547"/>
                </a:solidFill>
                <a:effectLst/>
                <a:latin typeface="Trebuchet MS" panose="020B0603020202020204" pitchFamily="34" charset="0"/>
                <a:ea typeface="Times New Roman" panose="02020603050405020304" pitchFamily="18" charset="0"/>
                <a:cs typeface="Times New Roman" panose="02020603050405020304" pitchFamily="18" charset="0"/>
              </a:rPr>
              <a:t>Inconsistent Customer Information</a:t>
            </a:r>
          </a:p>
          <a:p>
            <a:pPr marL="0" marR="0">
              <a:spcBef>
                <a:spcPts val="600"/>
              </a:spcBef>
              <a:spcAft>
                <a:spcPts val="0"/>
              </a:spcAft>
            </a:pPr>
            <a:r>
              <a:rPr lang="en-US" sz="1800" dirty="0">
                <a:solidFill>
                  <a:srgbClr val="464547"/>
                </a:solidFill>
                <a:effectLst/>
                <a:latin typeface="Trebuchet MS" panose="020B0603020202020204" pitchFamily="34" charset="0"/>
                <a:ea typeface="Times New Roman" panose="02020603050405020304" pitchFamily="18" charset="0"/>
                <a:cs typeface="Times New Roman" panose="02020603050405020304" pitchFamily="18" charset="0"/>
              </a:rPr>
              <a:t>The same customer may appear in multiple source systems. Without a centralized repository and common business definitions, inconsistencies may occur in customer-related information, making customer analysis difficult and potentially reducing data reliability.</a:t>
            </a:r>
          </a:p>
          <a:p>
            <a:pPr marL="0" marR="0">
              <a:spcBef>
                <a:spcPts val="600"/>
              </a:spcBef>
              <a:spcAft>
                <a:spcPts val="0"/>
              </a:spcAft>
            </a:pPr>
            <a:r>
              <a:rPr lang="en-US" sz="1800" b="1" dirty="0">
                <a:solidFill>
                  <a:srgbClr val="464547"/>
                </a:solidFill>
                <a:effectLst/>
                <a:latin typeface="Trebuchet MS" panose="020B0603020202020204" pitchFamily="34" charset="0"/>
                <a:ea typeface="Times New Roman" panose="02020603050405020304" pitchFamily="18" charset="0"/>
                <a:cs typeface="Times New Roman" panose="02020603050405020304" pitchFamily="18" charset="0"/>
              </a:rPr>
              <a:t>Data Quality Issues</a:t>
            </a:r>
          </a:p>
          <a:p>
            <a:pPr marL="0" marR="0">
              <a:spcBef>
                <a:spcPts val="600"/>
              </a:spcBef>
              <a:spcAft>
                <a:spcPts val="0"/>
              </a:spcAft>
            </a:pPr>
            <a:r>
              <a:rPr lang="en-US" sz="1800" dirty="0">
                <a:solidFill>
                  <a:srgbClr val="464547"/>
                </a:solidFill>
                <a:effectLst/>
                <a:latin typeface="Trebuchet MS" panose="020B0603020202020204" pitchFamily="34" charset="0"/>
                <a:ea typeface="Times New Roman" panose="02020603050405020304" pitchFamily="18" charset="0"/>
                <a:cs typeface="Times New Roman" panose="02020603050405020304" pitchFamily="18" charset="0"/>
              </a:rPr>
              <a:t>The existence of multiple independent systems increases the likelihood of duplicated records, inconsistent data definitions, missing values, and data synchronization problems. Such issues may negatively affect the accuracy of business reports and analytical results.</a:t>
            </a:r>
          </a:p>
        </p:txBody>
      </p:sp>
    </p:spTree>
    <p:extLst>
      <p:ext uri="{BB962C8B-B14F-4D97-AF65-F5344CB8AC3E}">
        <p14:creationId xmlns:p14="http://schemas.microsoft.com/office/powerpoint/2010/main" val="17742646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1CE315A-EDDD-4CA9-810C-13E82E04DAC0}"/>
              </a:ext>
            </a:extLst>
          </p:cNvPr>
          <p:cNvSpPr>
            <a:spLocks noGrp="1"/>
          </p:cNvSpPr>
          <p:nvPr>
            <p:ph type="title"/>
          </p:nvPr>
        </p:nvSpPr>
        <p:spPr>
          <a:xfrm>
            <a:off x="838200" y="365125"/>
            <a:ext cx="10515600" cy="442949"/>
          </a:xfrm>
        </p:spPr>
        <p:txBody>
          <a:bodyPr>
            <a:normAutofit fontScale="90000"/>
          </a:bodyPr>
          <a:lstStyle/>
          <a:p>
            <a:pPr algn="ctr"/>
            <a:r>
              <a:rPr lang="en-US" dirty="0"/>
              <a:t>Logical schema</a:t>
            </a:r>
          </a:p>
        </p:txBody>
      </p:sp>
      <p:pic>
        <p:nvPicPr>
          <p:cNvPr id="6" name="Picture 5">
            <a:extLst>
              <a:ext uri="{FF2B5EF4-FFF2-40B4-BE49-F238E27FC236}">
                <a16:creationId xmlns:a16="http://schemas.microsoft.com/office/drawing/2014/main" id="{E1476FE5-DEEE-4E77-BB3B-F042A2121F0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3435" y="974976"/>
            <a:ext cx="9910365" cy="5517899"/>
          </a:xfrm>
          <a:prstGeom prst="rect">
            <a:avLst/>
          </a:prstGeom>
          <a:noFill/>
          <a:ln>
            <a:noFill/>
          </a:ln>
        </p:spPr>
      </p:pic>
    </p:spTree>
    <p:extLst>
      <p:ext uri="{BB962C8B-B14F-4D97-AF65-F5344CB8AC3E}">
        <p14:creationId xmlns:p14="http://schemas.microsoft.com/office/powerpoint/2010/main" val="312285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6D3AE-8D00-4DD1-AD90-60048E702C35}"/>
              </a:ext>
            </a:extLst>
          </p:cNvPr>
          <p:cNvSpPr>
            <a:spLocks noGrp="1"/>
          </p:cNvSpPr>
          <p:nvPr>
            <p:ph type="title"/>
          </p:nvPr>
        </p:nvSpPr>
        <p:spPr>
          <a:xfrm>
            <a:off x="838200" y="184151"/>
            <a:ext cx="10515600" cy="558800"/>
          </a:xfrm>
        </p:spPr>
        <p:txBody>
          <a:bodyPr>
            <a:normAutofit/>
          </a:bodyPr>
          <a:lstStyle/>
          <a:p>
            <a:pPr algn="ctr"/>
            <a:r>
              <a:rPr lang="en-US" sz="3200" dirty="0">
                <a:effectLst/>
                <a:latin typeface="Times New Roman" panose="02020603050405020304" pitchFamily="18" charset="0"/>
                <a:ea typeface="Times New Roman" panose="02020603050405020304" pitchFamily="18" charset="0"/>
              </a:rPr>
              <a:t>Files with 95% of your data for initial load</a:t>
            </a:r>
            <a:endParaRPr lang="en-US" sz="3200" dirty="0"/>
          </a:p>
        </p:txBody>
      </p:sp>
      <p:sp>
        <p:nvSpPr>
          <p:cNvPr id="7" name="TextBox 6">
            <a:extLst>
              <a:ext uri="{FF2B5EF4-FFF2-40B4-BE49-F238E27FC236}">
                <a16:creationId xmlns:a16="http://schemas.microsoft.com/office/drawing/2014/main" id="{9B9112F6-C3F7-4E64-800B-57D3F0A7813F}"/>
              </a:ext>
            </a:extLst>
          </p:cNvPr>
          <p:cNvSpPr txBox="1"/>
          <p:nvPr/>
        </p:nvSpPr>
        <p:spPr>
          <a:xfrm>
            <a:off x="939296" y="1068926"/>
            <a:ext cx="6097508" cy="3323987"/>
          </a:xfrm>
          <a:prstGeom prst="rect">
            <a:avLst/>
          </a:prstGeom>
          <a:noFill/>
        </p:spPr>
        <p:txBody>
          <a:bodyPr wrap="square">
            <a:spAutoFit/>
          </a:bodyPr>
          <a:lstStyle/>
          <a:p>
            <a:r>
              <a:rPr lang="en-US" sz="1000" dirty="0"/>
              <a:t>SELECT COUNT(*) AS </a:t>
            </a:r>
            <a:r>
              <a:rPr lang="en-US" sz="1000" dirty="0" err="1"/>
              <a:t>sa_booking_rows_before</a:t>
            </a:r>
            <a:endParaRPr lang="en-US" sz="1000" dirty="0"/>
          </a:p>
          <a:p>
            <a:r>
              <a:rPr lang="en-US" sz="1000" dirty="0"/>
              <a:t>FROM </a:t>
            </a:r>
            <a:r>
              <a:rPr lang="en-US" sz="1000" dirty="0" err="1"/>
              <a:t>sa_bookings.src_bookings</a:t>
            </a:r>
            <a:r>
              <a:rPr lang="en-US" sz="1000" dirty="0"/>
              <a:t>;</a:t>
            </a:r>
          </a:p>
          <a:p>
            <a:endParaRPr lang="en-US" sz="1000" dirty="0"/>
          </a:p>
          <a:p>
            <a:r>
              <a:rPr lang="en-US" sz="1000" dirty="0"/>
              <a:t>SELECT COUNT(*) AS </a:t>
            </a:r>
            <a:r>
              <a:rPr lang="en-US" sz="1000" dirty="0" err="1"/>
              <a:t>sa_satisfaction_rows_before</a:t>
            </a:r>
            <a:endParaRPr lang="en-US" sz="1000" dirty="0"/>
          </a:p>
          <a:p>
            <a:r>
              <a:rPr lang="en-US" sz="1000" dirty="0"/>
              <a:t>FROM </a:t>
            </a:r>
            <a:r>
              <a:rPr lang="en-US" sz="1000" dirty="0" err="1"/>
              <a:t>sa_customer_satisfactions.src_customer_satisfactions</a:t>
            </a:r>
            <a:r>
              <a:rPr lang="en-US" sz="1000" dirty="0"/>
              <a:t>;</a:t>
            </a:r>
          </a:p>
          <a:p>
            <a:endParaRPr lang="en-US" sz="1000" dirty="0"/>
          </a:p>
          <a:p>
            <a:r>
              <a:rPr lang="en-US" sz="1000" dirty="0"/>
              <a:t>-- 2. BL_3NF row counts</a:t>
            </a:r>
          </a:p>
          <a:p>
            <a:r>
              <a:rPr lang="en-US" sz="1000" dirty="0"/>
              <a:t>SELECT COUNT(*) AS </a:t>
            </a:r>
            <a:r>
              <a:rPr lang="en-US" sz="1000" dirty="0" err="1"/>
              <a:t>ce_booking_rows_before</a:t>
            </a:r>
            <a:endParaRPr lang="en-US" sz="1000" dirty="0"/>
          </a:p>
          <a:p>
            <a:r>
              <a:rPr lang="en-US" sz="1000" dirty="0"/>
              <a:t>FROM bl_3nf.ce_bookings;</a:t>
            </a:r>
          </a:p>
          <a:p>
            <a:endParaRPr lang="en-US" sz="1000" dirty="0"/>
          </a:p>
          <a:p>
            <a:r>
              <a:rPr lang="en-US" sz="1000" dirty="0"/>
              <a:t>SELECT COUNT(*) AS </a:t>
            </a:r>
            <a:r>
              <a:rPr lang="en-US" sz="1000" dirty="0" err="1"/>
              <a:t>ce_satisfaction_rows_before</a:t>
            </a:r>
            <a:endParaRPr lang="en-US" sz="1000" dirty="0"/>
          </a:p>
          <a:p>
            <a:r>
              <a:rPr lang="en-US" sz="1000" dirty="0"/>
              <a:t>FROM bl_3nf.ce_customer_satisfactions;</a:t>
            </a:r>
          </a:p>
          <a:p>
            <a:endParaRPr lang="en-US" sz="1000" dirty="0"/>
          </a:p>
          <a:p>
            <a:r>
              <a:rPr lang="en-US" sz="1000" dirty="0"/>
              <a:t>-- 3. Fact row counts</a:t>
            </a:r>
          </a:p>
          <a:p>
            <a:r>
              <a:rPr lang="en-US" sz="1000" dirty="0"/>
              <a:t>SELECT COUNT(*) AS </a:t>
            </a:r>
            <a:r>
              <a:rPr lang="en-US" sz="1000" dirty="0" err="1"/>
              <a:t>booking_fact_rows_before</a:t>
            </a:r>
            <a:endParaRPr lang="en-US" sz="1000" dirty="0"/>
          </a:p>
          <a:p>
            <a:r>
              <a:rPr lang="en-US" sz="1000" dirty="0"/>
              <a:t>FROM </a:t>
            </a:r>
            <a:r>
              <a:rPr lang="en-US" sz="1000" dirty="0" err="1"/>
              <a:t>bl_dm.fct_bookings_dd</a:t>
            </a:r>
            <a:r>
              <a:rPr lang="en-US" sz="1000" dirty="0"/>
              <a:t>;</a:t>
            </a:r>
          </a:p>
          <a:p>
            <a:endParaRPr lang="en-US" sz="1000" dirty="0"/>
          </a:p>
          <a:p>
            <a:r>
              <a:rPr lang="en-US" sz="1000" dirty="0"/>
              <a:t>SELECT COUNT(*) AS </a:t>
            </a:r>
            <a:r>
              <a:rPr lang="en-US" sz="1000" dirty="0" err="1"/>
              <a:t>satisfaction_fact_rows_before</a:t>
            </a:r>
            <a:endParaRPr lang="en-US" sz="1000" dirty="0"/>
          </a:p>
          <a:p>
            <a:r>
              <a:rPr lang="en-US" sz="1000" dirty="0"/>
              <a:t>FROM </a:t>
            </a:r>
            <a:r>
              <a:rPr lang="en-US" sz="1000" dirty="0" err="1"/>
              <a:t>bl_dm.fct_customer_satisfactions_dd</a:t>
            </a:r>
            <a:r>
              <a:rPr lang="en-US" sz="1000" dirty="0"/>
              <a:t>;</a:t>
            </a:r>
          </a:p>
          <a:p>
            <a:endParaRPr lang="en-US" sz="1000" dirty="0"/>
          </a:p>
          <a:p>
            <a:endParaRPr lang="en-US" sz="1000" dirty="0"/>
          </a:p>
        </p:txBody>
      </p:sp>
    </p:spTree>
    <p:extLst>
      <p:ext uri="{BB962C8B-B14F-4D97-AF65-F5344CB8AC3E}">
        <p14:creationId xmlns:p14="http://schemas.microsoft.com/office/powerpoint/2010/main" val="2290411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6D3AE-8D00-4DD1-AD90-60048E702C35}"/>
              </a:ext>
            </a:extLst>
          </p:cNvPr>
          <p:cNvSpPr>
            <a:spLocks noGrp="1"/>
          </p:cNvSpPr>
          <p:nvPr>
            <p:ph type="title"/>
          </p:nvPr>
        </p:nvSpPr>
        <p:spPr>
          <a:xfrm>
            <a:off x="838200" y="184151"/>
            <a:ext cx="10515600" cy="558800"/>
          </a:xfrm>
        </p:spPr>
        <p:txBody>
          <a:bodyPr>
            <a:normAutofit/>
          </a:bodyPr>
          <a:lstStyle/>
          <a:p>
            <a:pPr algn="ctr"/>
            <a:r>
              <a:rPr lang="en-US" sz="3200" dirty="0">
                <a:effectLst/>
                <a:latin typeface="Times New Roman" panose="02020603050405020304" pitchFamily="18" charset="0"/>
                <a:ea typeface="Times New Roman" panose="02020603050405020304" pitchFamily="18" charset="0"/>
              </a:rPr>
              <a:t>Initial load partitions</a:t>
            </a:r>
            <a:endParaRPr lang="en-US" sz="3200" dirty="0"/>
          </a:p>
        </p:txBody>
      </p:sp>
      <p:pic>
        <p:nvPicPr>
          <p:cNvPr id="5" name="Picture 4">
            <a:extLst>
              <a:ext uri="{FF2B5EF4-FFF2-40B4-BE49-F238E27FC236}">
                <a16:creationId xmlns:a16="http://schemas.microsoft.com/office/drawing/2014/main" id="{4793D604-DE2D-44F5-9DB1-25746749CE64}"/>
              </a:ext>
            </a:extLst>
          </p:cNvPr>
          <p:cNvPicPr>
            <a:picLocks noChangeAspect="1"/>
          </p:cNvPicPr>
          <p:nvPr/>
        </p:nvPicPr>
        <p:blipFill>
          <a:blip r:embed="rId3"/>
          <a:stretch>
            <a:fillRect/>
          </a:stretch>
        </p:blipFill>
        <p:spPr>
          <a:xfrm>
            <a:off x="5636871" y="736660"/>
            <a:ext cx="4594944" cy="5156406"/>
          </a:xfrm>
          <a:prstGeom prst="rect">
            <a:avLst/>
          </a:prstGeom>
        </p:spPr>
      </p:pic>
      <p:pic>
        <p:nvPicPr>
          <p:cNvPr id="7" name="Picture 6">
            <a:extLst>
              <a:ext uri="{FF2B5EF4-FFF2-40B4-BE49-F238E27FC236}">
                <a16:creationId xmlns:a16="http://schemas.microsoft.com/office/drawing/2014/main" id="{2003A91A-A039-4200-9F8D-8E45E810D4FE}"/>
              </a:ext>
            </a:extLst>
          </p:cNvPr>
          <p:cNvPicPr>
            <a:picLocks noChangeAspect="1"/>
          </p:cNvPicPr>
          <p:nvPr/>
        </p:nvPicPr>
        <p:blipFill>
          <a:blip r:embed="rId4"/>
          <a:stretch>
            <a:fillRect/>
          </a:stretch>
        </p:blipFill>
        <p:spPr>
          <a:xfrm>
            <a:off x="357831" y="742951"/>
            <a:ext cx="6985359" cy="5150115"/>
          </a:xfrm>
          <a:prstGeom prst="rect">
            <a:avLst/>
          </a:prstGeom>
        </p:spPr>
      </p:pic>
    </p:spTree>
    <p:extLst>
      <p:ext uri="{BB962C8B-B14F-4D97-AF65-F5344CB8AC3E}">
        <p14:creationId xmlns:p14="http://schemas.microsoft.com/office/powerpoint/2010/main" val="23843519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4297A-B526-40B8-BD15-E37FDEBBF4ED}"/>
              </a:ext>
            </a:extLst>
          </p:cNvPr>
          <p:cNvSpPr>
            <a:spLocks noGrp="1"/>
          </p:cNvSpPr>
          <p:nvPr>
            <p:ph type="title"/>
          </p:nvPr>
        </p:nvSpPr>
        <p:spPr>
          <a:xfrm>
            <a:off x="838200" y="202163"/>
            <a:ext cx="10515600" cy="476847"/>
          </a:xfrm>
        </p:spPr>
        <p:txBody>
          <a:bodyPr>
            <a:normAutofit fontScale="90000"/>
          </a:bodyPr>
          <a:lstStyle/>
          <a:p>
            <a:pPr algn="ctr"/>
            <a:r>
              <a:rPr lang="en-US" b="1" dirty="0"/>
              <a:t>Load increment</a:t>
            </a:r>
            <a:endParaRPr lang="en-US" sz="36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047F970-D122-4621-ABAC-37CF7F3CF5D2}"/>
              </a:ext>
            </a:extLst>
          </p:cNvPr>
          <p:cNvPicPr>
            <a:picLocks noChangeAspect="1"/>
          </p:cNvPicPr>
          <p:nvPr/>
        </p:nvPicPr>
        <p:blipFill>
          <a:blip r:embed="rId3"/>
          <a:stretch>
            <a:fillRect/>
          </a:stretch>
        </p:blipFill>
        <p:spPr>
          <a:xfrm>
            <a:off x="838200" y="1800391"/>
            <a:ext cx="3949903" cy="1358970"/>
          </a:xfrm>
          <a:prstGeom prst="rect">
            <a:avLst/>
          </a:prstGeom>
        </p:spPr>
      </p:pic>
      <p:pic>
        <p:nvPicPr>
          <p:cNvPr id="6" name="Picture 5">
            <a:extLst>
              <a:ext uri="{FF2B5EF4-FFF2-40B4-BE49-F238E27FC236}">
                <a16:creationId xmlns:a16="http://schemas.microsoft.com/office/drawing/2014/main" id="{DB698959-96FC-41AF-AF0B-567F7A6084EA}"/>
              </a:ext>
            </a:extLst>
          </p:cNvPr>
          <p:cNvPicPr>
            <a:picLocks noChangeAspect="1"/>
          </p:cNvPicPr>
          <p:nvPr/>
        </p:nvPicPr>
        <p:blipFill>
          <a:blip r:embed="rId4"/>
          <a:stretch>
            <a:fillRect/>
          </a:stretch>
        </p:blipFill>
        <p:spPr>
          <a:xfrm>
            <a:off x="5679785" y="1622582"/>
            <a:ext cx="3448227" cy="1714588"/>
          </a:xfrm>
          <a:prstGeom prst="rect">
            <a:avLst/>
          </a:prstGeom>
        </p:spPr>
      </p:pic>
    </p:spTree>
    <p:extLst>
      <p:ext uri="{BB962C8B-B14F-4D97-AF65-F5344CB8AC3E}">
        <p14:creationId xmlns:p14="http://schemas.microsoft.com/office/powerpoint/2010/main" val="14397683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4297A-B526-40B8-BD15-E37FDEBBF4ED}"/>
              </a:ext>
            </a:extLst>
          </p:cNvPr>
          <p:cNvSpPr>
            <a:spLocks noGrp="1"/>
          </p:cNvSpPr>
          <p:nvPr>
            <p:ph type="title"/>
          </p:nvPr>
        </p:nvSpPr>
        <p:spPr>
          <a:xfrm>
            <a:off x="965521" y="179931"/>
            <a:ext cx="10515600" cy="665022"/>
          </a:xfrm>
        </p:spPr>
        <p:txBody>
          <a:bodyPr>
            <a:normAutofit fontScale="90000"/>
          </a:bodyPr>
          <a:lstStyle/>
          <a:p>
            <a:pPr algn="ctr"/>
            <a:r>
              <a:rPr lang="en-US" dirty="0">
                <a:latin typeface="Times New Roman" panose="02020603050405020304" pitchFamily="18" charset="0"/>
                <a:cs typeface="Times New Roman" panose="02020603050405020304" pitchFamily="18" charset="0"/>
              </a:rPr>
              <a:t>Load increment into bl_3nf, </a:t>
            </a:r>
            <a:r>
              <a:rPr lang="en-US" dirty="0" err="1">
                <a:latin typeface="Times New Roman" panose="02020603050405020304" pitchFamily="18" charset="0"/>
                <a:cs typeface="Times New Roman" panose="02020603050405020304" pitchFamily="18" charset="0"/>
              </a:rPr>
              <a:t>bl_dm</a:t>
            </a:r>
            <a:endParaRPr lang="en-US" sz="3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D94BED8-4891-4B8D-A955-95088F3BA951}"/>
              </a:ext>
            </a:extLst>
          </p:cNvPr>
          <p:cNvPicPr>
            <a:picLocks noChangeAspect="1"/>
          </p:cNvPicPr>
          <p:nvPr/>
        </p:nvPicPr>
        <p:blipFill>
          <a:blip r:embed="rId3"/>
          <a:stretch>
            <a:fillRect/>
          </a:stretch>
        </p:blipFill>
        <p:spPr>
          <a:xfrm>
            <a:off x="1960944" y="938333"/>
            <a:ext cx="7946985" cy="2312579"/>
          </a:xfrm>
          <a:prstGeom prst="rect">
            <a:avLst/>
          </a:prstGeom>
        </p:spPr>
      </p:pic>
      <p:pic>
        <p:nvPicPr>
          <p:cNvPr id="8" name="Picture 7">
            <a:extLst>
              <a:ext uri="{FF2B5EF4-FFF2-40B4-BE49-F238E27FC236}">
                <a16:creationId xmlns:a16="http://schemas.microsoft.com/office/drawing/2014/main" id="{75F7D2DB-2C9C-4C4E-8858-EA15587D1EBD}"/>
              </a:ext>
            </a:extLst>
          </p:cNvPr>
          <p:cNvPicPr>
            <a:picLocks noChangeAspect="1"/>
          </p:cNvPicPr>
          <p:nvPr/>
        </p:nvPicPr>
        <p:blipFill>
          <a:blip r:embed="rId4"/>
          <a:stretch>
            <a:fillRect/>
          </a:stretch>
        </p:blipFill>
        <p:spPr>
          <a:xfrm>
            <a:off x="1960944" y="3607089"/>
            <a:ext cx="7493385" cy="2559182"/>
          </a:xfrm>
          <a:prstGeom prst="rect">
            <a:avLst/>
          </a:prstGeom>
        </p:spPr>
      </p:pic>
    </p:spTree>
    <p:extLst>
      <p:ext uri="{BB962C8B-B14F-4D97-AF65-F5344CB8AC3E}">
        <p14:creationId xmlns:p14="http://schemas.microsoft.com/office/powerpoint/2010/main" val="42140074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73F7D6D-72F9-4C48-8493-C7D650755A33}"/>
              </a:ext>
            </a:extLst>
          </p:cNvPr>
          <p:cNvSpPr>
            <a:spLocks noGrp="1"/>
          </p:cNvSpPr>
          <p:nvPr>
            <p:ph type="title"/>
          </p:nvPr>
        </p:nvSpPr>
        <p:spPr>
          <a:xfrm>
            <a:off x="761999" y="64983"/>
            <a:ext cx="10515600" cy="772559"/>
          </a:xfrm>
        </p:spPr>
        <p:txBody>
          <a:bodyPr/>
          <a:lstStyle/>
          <a:p>
            <a:r>
              <a:rPr lang="en-US" dirty="0"/>
              <a:t>SCD1</a:t>
            </a:r>
          </a:p>
        </p:txBody>
      </p:sp>
      <p:pic>
        <p:nvPicPr>
          <p:cNvPr id="10" name="Content Placeholder 9">
            <a:extLst>
              <a:ext uri="{FF2B5EF4-FFF2-40B4-BE49-F238E27FC236}">
                <a16:creationId xmlns:a16="http://schemas.microsoft.com/office/drawing/2014/main" id="{ACC7059C-385D-40D2-B9FD-784D4375D7AB}"/>
              </a:ext>
            </a:extLst>
          </p:cNvPr>
          <p:cNvPicPr>
            <a:picLocks noGrp="1" noChangeAspect="1"/>
          </p:cNvPicPr>
          <p:nvPr>
            <p:ph sz="half" idx="1"/>
          </p:nvPr>
        </p:nvPicPr>
        <p:blipFill>
          <a:blip r:embed="rId3"/>
          <a:stretch>
            <a:fillRect/>
          </a:stretch>
        </p:blipFill>
        <p:spPr>
          <a:xfrm>
            <a:off x="838198" y="837543"/>
            <a:ext cx="7639052" cy="1977686"/>
          </a:xfrm>
        </p:spPr>
      </p:pic>
      <p:pic>
        <p:nvPicPr>
          <p:cNvPr id="12" name="Content Placeholder 11">
            <a:extLst>
              <a:ext uri="{FF2B5EF4-FFF2-40B4-BE49-F238E27FC236}">
                <a16:creationId xmlns:a16="http://schemas.microsoft.com/office/drawing/2014/main" id="{CDB751C9-4C0E-4D73-A7AB-37A39B55FD7D}"/>
              </a:ext>
            </a:extLst>
          </p:cNvPr>
          <p:cNvPicPr>
            <a:picLocks noGrp="1" noChangeAspect="1"/>
          </p:cNvPicPr>
          <p:nvPr>
            <p:ph sz="half" idx="2"/>
          </p:nvPr>
        </p:nvPicPr>
        <p:blipFill>
          <a:blip r:embed="rId4"/>
          <a:stretch>
            <a:fillRect/>
          </a:stretch>
        </p:blipFill>
        <p:spPr>
          <a:xfrm>
            <a:off x="838198" y="2922840"/>
            <a:ext cx="8743951" cy="1623349"/>
          </a:xfrm>
        </p:spPr>
      </p:pic>
      <p:sp>
        <p:nvSpPr>
          <p:cNvPr id="14" name="TextBox 13">
            <a:extLst>
              <a:ext uri="{FF2B5EF4-FFF2-40B4-BE49-F238E27FC236}">
                <a16:creationId xmlns:a16="http://schemas.microsoft.com/office/drawing/2014/main" id="{36A3EE02-AF46-45C5-A3E8-41055FB5B034}"/>
              </a:ext>
            </a:extLst>
          </p:cNvPr>
          <p:cNvSpPr txBox="1"/>
          <p:nvPr/>
        </p:nvSpPr>
        <p:spPr>
          <a:xfrm>
            <a:off x="761999" y="4653800"/>
            <a:ext cx="12192000" cy="2123658"/>
          </a:xfrm>
          <a:prstGeom prst="rect">
            <a:avLst/>
          </a:prstGeom>
          <a:noFill/>
        </p:spPr>
        <p:txBody>
          <a:bodyPr wrap="square">
            <a:spAutoFit/>
          </a:bodyPr>
          <a:lstStyle/>
          <a:p>
            <a:pPr algn="just"/>
            <a:r>
              <a:rPr lang="en-US" sz="1200" b="1" dirty="0"/>
              <a:t>Test Objective</a:t>
            </a:r>
            <a:r>
              <a:rPr lang="en-US" sz="1200" dirty="0"/>
              <a:t>: Verify that SCD Type 1 dimensions overwrite changed descriptive attributes without creating duplicate records.</a:t>
            </a:r>
          </a:p>
          <a:p>
            <a:pPr algn="just"/>
            <a:r>
              <a:rPr lang="en-US" sz="1200" b="1" dirty="0"/>
              <a:t>Test Steps</a:t>
            </a:r>
          </a:p>
          <a:p>
            <a:pPr algn="just"/>
            <a:r>
              <a:rPr lang="en-US" sz="1200" dirty="0"/>
              <a:t>Modify an existing </a:t>
            </a:r>
            <a:r>
              <a:rPr lang="en-US" sz="1200" dirty="0" err="1"/>
              <a:t>on_board_service</a:t>
            </a:r>
            <a:r>
              <a:rPr lang="en-US" sz="1200" dirty="0"/>
              <a:t> in the source system for the client</a:t>
            </a:r>
          </a:p>
          <a:p>
            <a:pPr algn="just"/>
            <a:r>
              <a:rPr lang="en-US" sz="1200" dirty="0"/>
              <a:t>Execute the incremental ETL process.</a:t>
            </a:r>
          </a:p>
          <a:p>
            <a:pPr algn="just"/>
            <a:r>
              <a:rPr lang="en-US" sz="1200" dirty="0"/>
              <a:t>Run the SCD1 MERGE procedure for dimension loading.</a:t>
            </a:r>
          </a:p>
          <a:p>
            <a:pPr algn="just"/>
            <a:r>
              <a:rPr lang="en-US" sz="1200" dirty="0"/>
              <a:t>Compare the dimension table before and after the load.</a:t>
            </a:r>
          </a:p>
          <a:p>
            <a:pPr algn="just"/>
            <a:r>
              <a:rPr lang="en-US" sz="1200" b="1" dirty="0"/>
              <a:t>Expected Result</a:t>
            </a:r>
          </a:p>
          <a:p>
            <a:pPr algn="just"/>
            <a:r>
              <a:rPr lang="en-US" sz="1200" dirty="0"/>
              <a:t>The existing dimension record is updated.</a:t>
            </a:r>
          </a:p>
          <a:p>
            <a:pPr algn="just"/>
            <a:r>
              <a:rPr lang="en-US" sz="1200" dirty="0"/>
              <a:t>The surrogate key remains unchanged.</a:t>
            </a:r>
          </a:p>
          <a:p>
            <a:pPr algn="just"/>
            <a:r>
              <a:rPr lang="en-US" sz="1200" dirty="0"/>
              <a:t>No duplicate business keys are created.</a:t>
            </a:r>
          </a:p>
          <a:p>
            <a:pPr algn="just"/>
            <a:r>
              <a:rPr lang="en-US" sz="1200" dirty="0"/>
              <a:t>In fact table the new record is added for historical purpose.</a:t>
            </a:r>
          </a:p>
        </p:txBody>
      </p:sp>
    </p:spTree>
    <p:extLst>
      <p:ext uri="{BB962C8B-B14F-4D97-AF65-F5344CB8AC3E}">
        <p14:creationId xmlns:p14="http://schemas.microsoft.com/office/powerpoint/2010/main" val="11379294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9B28836-A878-4738-ADE2-70BE5A461380}"/>
              </a:ext>
            </a:extLst>
          </p:cNvPr>
          <p:cNvSpPr>
            <a:spLocks noGrp="1"/>
          </p:cNvSpPr>
          <p:nvPr>
            <p:ph type="title"/>
          </p:nvPr>
        </p:nvSpPr>
        <p:spPr>
          <a:xfrm>
            <a:off x="838200" y="170060"/>
            <a:ext cx="10515600" cy="663575"/>
          </a:xfrm>
        </p:spPr>
        <p:txBody>
          <a:bodyPr>
            <a:normAutofit fontScale="90000"/>
          </a:bodyPr>
          <a:lstStyle/>
          <a:p>
            <a:r>
              <a:rPr lang="en-US" dirty="0">
                <a:latin typeface="Times New Roman" panose="02020603050405020304" pitchFamily="18" charset="0"/>
                <a:cs typeface="Times New Roman" panose="02020603050405020304" pitchFamily="18" charset="0"/>
              </a:rPr>
              <a:t>SCD2</a:t>
            </a:r>
          </a:p>
        </p:txBody>
      </p:sp>
      <p:pic>
        <p:nvPicPr>
          <p:cNvPr id="14" name="Content Placeholder 13">
            <a:extLst>
              <a:ext uri="{FF2B5EF4-FFF2-40B4-BE49-F238E27FC236}">
                <a16:creationId xmlns:a16="http://schemas.microsoft.com/office/drawing/2014/main" id="{A5B874A1-6A13-4C96-B1D5-BB942996B342}"/>
              </a:ext>
            </a:extLst>
          </p:cNvPr>
          <p:cNvPicPr>
            <a:picLocks noGrp="1" noChangeAspect="1"/>
          </p:cNvPicPr>
          <p:nvPr>
            <p:ph sz="half" idx="2"/>
          </p:nvPr>
        </p:nvPicPr>
        <p:blipFill>
          <a:blip r:embed="rId3"/>
          <a:stretch>
            <a:fillRect/>
          </a:stretch>
        </p:blipFill>
        <p:spPr>
          <a:xfrm>
            <a:off x="6248400" y="1190724"/>
            <a:ext cx="5181600" cy="858640"/>
          </a:xfrm>
        </p:spPr>
      </p:pic>
      <p:pic>
        <p:nvPicPr>
          <p:cNvPr id="12" name="Content Placeholder 11">
            <a:extLst>
              <a:ext uri="{FF2B5EF4-FFF2-40B4-BE49-F238E27FC236}">
                <a16:creationId xmlns:a16="http://schemas.microsoft.com/office/drawing/2014/main" id="{AFDBAF3C-99DB-4D44-A219-ADAF4C7CE844}"/>
              </a:ext>
            </a:extLst>
          </p:cNvPr>
          <p:cNvPicPr>
            <a:picLocks noGrp="1" noChangeAspect="1"/>
          </p:cNvPicPr>
          <p:nvPr>
            <p:ph sz="half" idx="1"/>
          </p:nvPr>
        </p:nvPicPr>
        <p:blipFill>
          <a:blip r:embed="rId4"/>
          <a:stretch>
            <a:fillRect/>
          </a:stretch>
        </p:blipFill>
        <p:spPr>
          <a:xfrm>
            <a:off x="838200" y="1019024"/>
            <a:ext cx="5181600" cy="954390"/>
          </a:xfrm>
        </p:spPr>
      </p:pic>
      <p:sp>
        <p:nvSpPr>
          <p:cNvPr id="16" name="TextBox 15">
            <a:extLst>
              <a:ext uri="{FF2B5EF4-FFF2-40B4-BE49-F238E27FC236}">
                <a16:creationId xmlns:a16="http://schemas.microsoft.com/office/drawing/2014/main" id="{98749D88-C751-4A14-82B9-DD2DAD932E73}"/>
              </a:ext>
            </a:extLst>
          </p:cNvPr>
          <p:cNvSpPr txBox="1"/>
          <p:nvPr/>
        </p:nvSpPr>
        <p:spPr>
          <a:xfrm>
            <a:off x="876300" y="2406453"/>
            <a:ext cx="10744200" cy="2308324"/>
          </a:xfrm>
          <a:prstGeom prst="rect">
            <a:avLst/>
          </a:prstGeom>
          <a:noFill/>
        </p:spPr>
        <p:txBody>
          <a:bodyPr wrap="square">
            <a:spAutoFit/>
          </a:bodyPr>
          <a:lstStyle/>
          <a:p>
            <a:r>
              <a:rPr lang="en-US" sz="1200" b="1" dirty="0"/>
              <a:t>Test Objective - </a:t>
            </a:r>
            <a:r>
              <a:rPr lang="en-US" sz="1200" dirty="0"/>
              <a:t>Verify historical tracking of customer attribute changes.</a:t>
            </a:r>
          </a:p>
          <a:p>
            <a:endParaRPr lang="en-US" sz="1200" dirty="0"/>
          </a:p>
          <a:p>
            <a:r>
              <a:rPr lang="en-US" sz="1200" b="1" dirty="0"/>
              <a:t>Test Steps</a:t>
            </a:r>
          </a:p>
          <a:p>
            <a:r>
              <a:rPr lang="en-US" sz="1200" dirty="0"/>
              <a:t>Update a customer attribute (for example, gender, age, or customer type) in the source system.</a:t>
            </a:r>
          </a:p>
          <a:p>
            <a:r>
              <a:rPr lang="en-US" sz="1200" dirty="0"/>
              <a:t>Execute the incremental ETL process.</a:t>
            </a:r>
          </a:p>
          <a:p>
            <a:r>
              <a:rPr lang="en-US" sz="1200" dirty="0"/>
              <a:t>Run the SCD2 loading procedure.</a:t>
            </a:r>
          </a:p>
          <a:p>
            <a:r>
              <a:rPr lang="en-US" sz="1200" dirty="0"/>
              <a:t>Query the customer dimension before and after loading.</a:t>
            </a:r>
          </a:p>
          <a:p>
            <a:r>
              <a:rPr lang="en-US" sz="1200" b="1" dirty="0"/>
              <a:t>Expected Result</a:t>
            </a:r>
          </a:p>
          <a:p>
            <a:r>
              <a:rPr lang="en-US" sz="1200" dirty="0"/>
              <a:t>The previous version of the customer record is closed (</a:t>
            </a:r>
            <a:r>
              <a:rPr lang="en-US" sz="1200" dirty="0" err="1"/>
              <a:t>is_active</a:t>
            </a:r>
            <a:r>
              <a:rPr lang="en-US" sz="1200" dirty="0"/>
              <a:t> = 'N').</a:t>
            </a:r>
          </a:p>
          <a:p>
            <a:r>
              <a:rPr lang="en-US" sz="1200" dirty="0" err="1"/>
              <a:t>end_dt</a:t>
            </a:r>
            <a:r>
              <a:rPr lang="en-US" sz="1200" dirty="0"/>
              <a:t> is populated for the historical record.</a:t>
            </a:r>
          </a:p>
          <a:p>
            <a:r>
              <a:rPr lang="en-US" sz="1200" dirty="0"/>
              <a:t>A new active version is inserted with a new surrogate key.</a:t>
            </a:r>
          </a:p>
          <a:p>
            <a:r>
              <a:rPr lang="en-US" sz="1200" dirty="0"/>
              <a:t>Complete change history is preserved.</a:t>
            </a:r>
          </a:p>
        </p:txBody>
      </p:sp>
    </p:spTree>
    <p:extLst>
      <p:ext uri="{BB962C8B-B14F-4D97-AF65-F5344CB8AC3E}">
        <p14:creationId xmlns:p14="http://schemas.microsoft.com/office/powerpoint/2010/main" val="6009271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05376-E2D0-464B-9B96-3C847712F332}"/>
              </a:ext>
            </a:extLst>
          </p:cNvPr>
          <p:cNvSpPr>
            <a:spLocks noGrp="1"/>
          </p:cNvSpPr>
          <p:nvPr>
            <p:ph type="title"/>
          </p:nvPr>
        </p:nvSpPr>
        <p:spPr>
          <a:xfrm>
            <a:off x="838200" y="184150"/>
            <a:ext cx="10515600" cy="244475"/>
          </a:xfrm>
        </p:spPr>
        <p:txBody>
          <a:bodyPr>
            <a:normAutofit fontScale="90000"/>
          </a:bodyPr>
          <a:lstStyle/>
          <a:p>
            <a:r>
              <a:rPr lang="en-US" sz="3600" b="1" dirty="0">
                <a:effectLst/>
                <a:latin typeface="Times New Roman" panose="02020603050405020304" pitchFamily="18" charset="0"/>
                <a:ea typeface="Times New Roman" panose="02020603050405020304" pitchFamily="18" charset="0"/>
              </a:rPr>
              <a:t>Fact table is loaded using partition</a:t>
            </a:r>
            <a:endParaRPr lang="en-US" sz="3600" b="1" dirty="0"/>
          </a:p>
        </p:txBody>
      </p:sp>
      <p:pic>
        <p:nvPicPr>
          <p:cNvPr id="5" name="Content Placeholder 4">
            <a:extLst>
              <a:ext uri="{FF2B5EF4-FFF2-40B4-BE49-F238E27FC236}">
                <a16:creationId xmlns:a16="http://schemas.microsoft.com/office/drawing/2014/main" id="{DBE6CD07-734B-4D06-8D8D-7B65BF86C835}"/>
              </a:ext>
            </a:extLst>
          </p:cNvPr>
          <p:cNvPicPr>
            <a:picLocks noGrp="1" noChangeAspect="1"/>
          </p:cNvPicPr>
          <p:nvPr>
            <p:ph sz="half" idx="1"/>
          </p:nvPr>
        </p:nvPicPr>
        <p:blipFill>
          <a:blip r:embed="rId3"/>
          <a:stretch>
            <a:fillRect/>
          </a:stretch>
        </p:blipFill>
        <p:spPr>
          <a:xfrm>
            <a:off x="838200" y="632529"/>
            <a:ext cx="3225966" cy="3511730"/>
          </a:xfrm>
          <a:prstGeom prst="rect">
            <a:avLst/>
          </a:prstGeom>
        </p:spPr>
      </p:pic>
      <p:pic>
        <p:nvPicPr>
          <p:cNvPr id="6" name="Content Placeholder 5">
            <a:extLst>
              <a:ext uri="{FF2B5EF4-FFF2-40B4-BE49-F238E27FC236}">
                <a16:creationId xmlns:a16="http://schemas.microsoft.com/office/drawing/2014/main" id="{0CA38D47-C6D1-4596-8FFC-B0DD3E626946}"/>
              </a:ext>
            </a:extLst>
          </p:cNvPr>
          <p:cNvPicPr>
            <a:picLocks noGrp="1" noChangeAspect="1"/>
          </p:cNvPicPr>
          <p:nvPr>
            <p:ph sz="half" idx="2"/>
          </p:nvPr>
        </p:nvPicPr>
        <p:blipFill>
          <a:blip r:embed="rId4"/>
          <a:stretch>
            <a:fillRect/>
          </a:stretch>
        </p:blipFill>
        <p:spPr>
          <a:xfrm>
            <a:off x="4064166" y="644502"/>
            <a:ext cx="5181600" cy="3499757"/>
          </a:xfrm>
          <a:prstGeom prst="rect">
            <a:avLst/>
          </a:prstGeom>
        </p:spPr>
      </p:pic>
      <p:sp>
        <p:nvSpPr>
          <p:cNvPr id="8" name="TextBox 7">
            <a:extLst>
              <a:ext uri="{FF2B5EF4-FFF2-40B4-BE49-F238E27FC236}">
                <a16:creationId xmlns:a16="http://schemas.microsoft.com/office/drawing/2014/main" id="{0FC69AF3-4238-49EE-B534-C2205FED422A}"/>
              </a:ext>
            </a:extLst>
          </p:cNvPr>
          <p:cNvSpPr txBox="1"/>
          <p:nvPr/>
        </p:nvSpPr>
        <p:spPr>
          <a:xfrm>
            <a:off x="838200" y="4156232"/>
            <a:ext cx="10306050" cy="2554545"/>
          </a:xfrm>
          <a:prstGeom prst="rect">
            <a:avLst/>
          </a:prstGeom>
          <a:noFill/>
        </p:spPr>
        <p:txBody>
          <a:bodyPr wrap="square">
            <a:spAutoFit/>
          </a:bodyPr>
          <a:lstStyle/>
          <a:p>
            <a:r>
              <a:rPr lang="en-US" sz="1000" b="1" dirty="0"/>
              <a:t>Test Objective </a:t>
            </a:r>
            <a:r>
              <a:rPr lang="en-US" sz="1000" dirty="0"/>
              <a:t>- Verify incremental loading of partitioned fact tables.</a:t>
            </a:r>
          </a:p>
          <a:p>
            <a:r>
              <a:rPr lang="en-US" sz="1000" dirty="0"/>
              <a:t>Test Steps</a:t>
            </a:r>
          </a:p>
          <a:p>
            <a:r>
              <a:rPr lang="en-US" sz="1000" dirty="0"/>
              <a:t>Add new booking and customer satisfaction records for a new month (e.g., October or December 2026).</a:t>
            </a:r>
          </a:p>
          <a:p>
            <a:r>
              <a:rPr lang="en-US" sz="1000" dirty="0"/>
              <a:t>Execute:</a:t>
            </a:r>
          </a:p>
          <a:p>
            <a:r>
              <a:rPr lang="en-US" sz="1000" dirty="0"/>
              <a:t>CALL </a:t>
            </a:r>
            <a:r>
              <a:rPr lang="en-US" sz="1000" dirty="0" err="1"/>
              <a:t>bl_cl.pr_load_all_increment</a:t>
            </a:r>
            <a:r>
              <a:rPr lang="en-US" sz="1000" dirty="0"/>
              <a:t>(</a:t>
            </a:r>
          </a:p>
          <a:p>
            <a:r>
              <a:rPr lang="en-US" sz="1000" dirty="0"/>
              <a:t>    DATE '2026-10-01',</a:t>
            </a:r>
          </a:p>
          <a:p>
            <a:r>
              <a:rPr lang="en-US" sz="1000" dirty="0"/>
              <a:t>    DATE '2026-10-31',</a:t>
            </a:r>
          </a:p>
          <a:p>
            <a:r>
              <a:rPr lang="en-US" sz="1000" dirty="0"/>
              <a:t>    TRUE</a:t>
            </a:r>
          </a:p>
          <a:p>
            <a:r>
              <a:rPr lang="en-US" sz="1000" dirty="0"/>
              <a:t>);</a:t>
            </a:r>
          </a:p>
          <a:p>
            <a:r>
              <a:rPr lang="en-US" sz="1000" dirty="0"/>
              <a:t>Refresh or automatically create the required monthly partition.</a:t>
            </a:r>
          </a:p>
          <a:p>
            <a:r>
              <a:rPr lang="en-US" sz="1000" dirty="0"/>
              <a:t>Verify the loaded fact records.</a:t>
            </a:r>
          </a:p>
          <a:p>
            <a:r>
              <a:rPr lang="en-US" sz="1000" b="1" dirty="0"/>
              <a:t>Expected Result</a:t>
            </a:r>
          </a:p>
          <a:p>
            <a:r>
              <a:rPr lang="en-US" sz="1000" dirty="0"/>
              <a:t>A new monthly partition (e.g., fct_bookings_dd_202610) is created or refreshed.</a:t>
            </a:r>
          </a:p>
          <a:p>
            <a:r>
              <a:rPr lang="en-US" sz="1000" dirty="0"/>
              <a:t>New fact rows are loaded into the correct partition.</a:t>
            </a:r>
          </a:p>
          <a:p>
            <a:r>
              <a:rPr lang="en-US" sz="1000" dirty="0"/>
              <a:t>Existing partitions remain unchanged.</a:t>
            </a:r>
          </a:p>
          <a:p>
            <a:r>
              <a:rPr lang="en-US" sz="1000" dirty="0"/>
              <a:t>Repeated execution of the incremental load does not create duplicate fact records.</a:t>
            </a:r>
          </a:p>
        </p:txBody>
      </p:sp>
    </p:spTree>
    <p:extLst>
      <p:ext uri="{BB962C8B-B14F-4D97-AF65-F5344CB8AC3E}">
        <p14:creationId xmlns:p14="http://schemas.microsoft.com/office/powerpoint/2010/main" val="11408003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05376-E2D0-464B-9B96-3C847712F332}"/>
              </a:ext>
            </a:extLst>
          </p:cNvPr>
          <p:cNvSpPr>
            <a:spLocks noGrp="1"/>
          </p:cNvSpPr>
          <p:nvPr>
            <p:ph type="title" idx="4294967295"/>
          </p:nvPr>
        </p:nvSpPr>
        <p:spPr>
          <a:xfrm>
            <a:off x="0" y="184150"/>
            <a:ext cx="10515600" cy="244475"/>
          </a:xfrm>
        </p:spPr>
        <p:txBody>
          <a:bodyPr>
            <a:normAutofit fontScale="90000"/>
          </a:bodyPr>
          <a:lstStyle/>
          <a:p>
            <a:r>
              <a:rPr lang="en-US" sz="3600" b="1" dirty="0">
                <a:effectLst/>
                <a:latin typeface="Times New Roman" panose="02020603050405020304" pitchFamily="18" charset="0"/>
                <a:ea typeface="Times New Roman" panose="02020603050405020304" pitchFamily="18" charset="0"/>
              </a:rPr>
              <a:t>Log table</a:t>
            </a:r>
            <a:endParaRPr lang="en-US" sz="3600" b="1" dirty="0"/>
          </a:p>
        </p:txBody>
      </p:sp>
      <p:pic>
        <p:nvPicPr>
          <p:cNvPr id="11" name="Picture 10">
            <a:extLst>
              <a:ext uri="{FF2B5EF4-FFF2-40B4-BE49-F238E27FC236}">
                <a16:creationId xmlns:a16="http://schemas.microsoft.com/office/drawing/2014/main" id="{E5E5BF87-84F6-4882-81BA-D036FABC6B5E}"/>
              </a:ext>
            </a:extLst>
          </p:cNvPr>
          <p:cNvPicPr>
            <a:picLocks noChangeAspect="1"/>
          </p:cNvPicPr>
          <p:nvPr/>
        </p:nvPicPr>
        <p:blipFill>
          <a:blip r:embed="rId3"/>
          <a:stretch>
            <a:fillRect/>
          </a:stretch>
        </p:blipFill>
        <p:spPr>
          <a:xfrm>
            <a:off x="198487" y="894139"/>
            <a:ext cx="10068257" cy="3993121"/>
          </a:xfrm>
          <a:prstGeom prst="rect">
            <a:avLst/>
          </a:prstGeom>
        </p:spPr>
      </p:pic>
    </p:spTree>
    <p:extLst>
      <p:ext uri="{BB962C8B-B14F-4D97-AF65-F5344CB8AC3E}">
        <p14:creationId xmlns:p14="http://schemas.microsoft.com/office/powerpoint/2010/main" val="11420452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4289</TotalTime>
  <Words>2050</Words>
  <Application>Microsoft Office PowerPoint</Application>
  <PresentationFormat>Widescreen</PresentationFormat>
  <Paragraphs>267</Paragraphs>
  <Slides>12</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vt:i4>
      </vt:variant>
    </vt:vector>
  </HeadingPairs>
  <TitlesOfParts>
    <vt:vector size="20" baseType="lpstr">
      <vt:lpstr>Arial</vt:lpstr>
      <vt:lpstr>Arial Black</vt:lpstr>
      <vt:lpstr>Calibri</vt:lpstr>
      <vt:lpstr>Calibri Light</vt:lpstr>
      <vt:lpstr>Consolas</vt:lpstr>
      <vt:lpstr>Times New Roman</vt:lpstr>
      <vt:lpstr>Trebuchet MS</vt:lpstr>
      <vt:lpstr>Office Theme</vt:lpstr>
      <vt:lpstr>Airline Ticket Retail Sales</vt:lpstr>
      <vt:lpstr>Business background</vt:lpstr>
      <vt:lpstr>Problems because of poor data management</vt:lpstr>
      <vt:lpstr>Logical schema</vt:lpstr>
      <vt:lpstr>Files with 95% of your data for initial load</vt:lpstr>
      <vt:lpstr>Initial load partitions</vt:lpstr>
      <vt:lpstr>Load increment</vt:lpstr>
      <vt:lpstr>Load increment into bl_3nf, bl_dm</vt:lpstr>
      <vt:lpstr>SCD1</vt:lpstr>
      <vt:lpstr>SCD2</vt:lpstr>
      <vt:lpstr>Fact table is loaded using partition</vt:lpstr>
      <vt:lpstr>Log table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Bogdan</dc:creator>
  <cp:lastModifiedBy>Bogdan</cp:lastModifiedBy>
  <cp:revision>25</cp:revision>
  <dcterms:created xsi:type="dcterms:W3CDTF">2026-07-26T11:52:33Z</dcterms:created>
  <dcterms:modified xsi:type="dcterms:W3CDTF">2026-08-02T13:53:23Z</dcterms:modified>
</cp:coreProperties>
</file>