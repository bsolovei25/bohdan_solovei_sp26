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2" r:id="rId3"/>
    <p:sldId id="263" r:id="rId4"/>
    <p:sldId id="260" r:id="rId5"/>
    <p:sldId id="261" r:id="rId6"/>
    <p:sldId id="257" r:id="rId7"/>
    <p:sldId id="258" r:id="rId8"/>
    <p:sldId id="259"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61" autoAdjust="0"/>
    <p:restoredTop sz="89680" autoAdjust="0"/>
  </p:normalViewPr>
  <p:slideViewPr>
    <p:cSldViewPr snapToGrid="0">
      <p:cViewPr varScale="1">
        <p:scale>
          <a:sx n="101" d="100"/>
          <a:sy n="101" d="100"/>
        </p:scale>
        <p:origin x="97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1A4586-3EDC-4887-B613-BC94C279D709}" type="datetimeFigureOut">
              <a:rPr lang="en-US" smtClean="0"/>
              <a:t>7/26/2026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229DCC-59D3-4387-BC31-DC8272126700}" type="slidenum">
              <a:rPr lang="en-US" smtClean="0"/>
              <a:t>‹#›</a:t>
            </a:fld>
            <a:endParaRPr lang="en-US"/>
          </a:p>
        </p:txBody>
      </p:sp>
    </p:spTree>
    <p:extLst>
      <p:ext uri="{BB962C8B-B14F-4D97-AF65-F5344CB8AC3E}">
        <p14:creationId xmlns:p14="http://schemas.microsoft.com/office/powerpoint/2010/main" val="8083798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solidFill>
                  <a:srgbClr val="800000"/>
                </a:solidFill>
                <a:effectLst/>
                <a:latin typeface="Consolas" panose="020B0609020204030204" pitchFamily="49" charset="0"/>
              </a:rPr>
              <a:t>select</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customer_satisfaction_src_id</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on_board_service</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s</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from</a:t>
            </a:r>
            <a:r>
              <a:rPr lang="en-US" sz="1800" dirty="0">
                <a:solidFill>
                  <a:srgbClr val="000000"/>
                </a:solidFill>
                <a:effectLst/>
                <a:latin typeface="Consolas" panose="020B0609020204030204" pitchFamily="49" charset="0"/>
              </a:rPr>
              <a:t> </a:t>
            </a:r>
            <a:r>
              <a:rPr lang="en-US" sz="1800" dirty="0">
                <a:solidFill>
                  <a:srgbClr val="956037"/>
                </a:solidFill>
                <a:effectLst/>
                <a:latin typeface="Consolas" panose="020B0609020204030204" pitchFamily="49" charset="0"/>
              </a:rPr>
              <a:t>bl_3nf</a:t>
            </a:r>
            <a:r>
              <a:rPr lang="en-US" sz="1800" dirty="0">
                <a:solidFill>
                  <a:srgbClr val="000000"/>
                </a:solidFill>
                <a:effectLst/>
                <a:latin typeface="Consolas" panose="020B0609020204030204" pitchFamily="49" charset="0"/>
              </a:rPr>
              <a:t>.</a:t>
            </a:r>
            <a:r>
              <a:rPr lang="en-US" sz="1800" dirty="0">
                <a:solidFill>
                  <a:srgbClr val="8E00C6"/>
                </a:solidFill>
                <a:effectLst/>
                <a:latin typeface="Consolas" panose="020B0609020204030204" pitchFamily="49" charset="0"/>
              </a:rPr>
              <a:t>ce_customer_satisfactions</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s</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where</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customer_satisfaction_src_id</a:t>
            </a:r>
            <a:r>
              <a:rPr lang="en-US" sz="1800" dirty="0">
                <a:solidFill>
                  <a:srgbClr val="000000"/>
                </a:solidFill>
                <a:effectLst/>
                <a:latin typeface="Consolas" panose="020B0609020204030204" pitchFamily="49" charset="0"/>
              </a:rPr>
              <a:t>=</a:t>
            </a:r>
            <a:r>
              <a:rPr lang="en-US" sz="1800" dirty="0">
                <a:solidFill>
                  <a:srgbClr val="008000"/>
                </a:solidFill>
                <a:effectLst/>
                <a:latin typeface="Consolas" panose="020B0609020204030204" pitchFamily="49" charset="0"/>
              </a:rPr>
              <a:t>'S_INC_003’</a:t>
            </a:r>
          </a:p>
          <a:p>
            <a:r>
              <a:rPr lang="en-US" sz="1800" b="1" dirty="0">
                <a:solidFill>
                  <a:srgbClr val="800000"/>
                </a:solidFill>
                <a:effectLst/>
                <a:latin typeface="Consolas" panose="020B0609020204030204" pitchFamily="49" charset="0"/>
              </a:rPr>
              <a:t>select</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customer_satisfaction_src_id</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fct_on_board_service</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d</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from</a:t>
            </a:r>
            <a:r>
              <a:rPr lang="en-US" sz="1800" dirty="0">
                <a:solidFill>
                  <a:srgbClr val="000000"/>
                </a:solidFill>
                <a:effectLst/>
                <a:latin typeface="Consolas" panose="020B0609020204030204" pitchFamily="49" charset="0"/>
              </a:rPr>
              <a:t> </a:t>
            </a:r>
            <a:r>
              <a:rPr lang="en-US" sz="1800" dirty="0" err="1">
                <a:solidFill>
                  <a:srgbClr val="956037"/>
                </a:solidFill>
                <a:effectLst/>
                <a:latin typeface="Consolas" panose="020B0609020204030204" pitchFamily="49" charset="0"/>
              </a:rPr>
              <a:t>bl_dm</a:t>
            </a:r>
            <a:r>
              <a:rPr lang="en-US" sz="1800" dirty="0" err="1">
                <a:solidFill>
                  <a:srgbClr val="000000"/>
                </a:solidFill>
                <a:effectLst/>
                <a:latin typeface="Consolas" panose="020B0609020204030204" pitchFamily="49" charset="0"/>
              </a:rPr>
              <a:t>.</a:t>
            </a:r>
            <a:r>
              <a:rPr lang="en-US" sz="1800" dirty="0" err="1">
                <a:solidFill>
                  <a:srgbClr val="8E00C6"/>
                </a:solidFill>
                <a:effectLst/>
                <a:latin typeface="Consolas" panose="020B0609020204030204" pitchFamily="49" charset="0"/>
              </a:rPr>
              <a:t>fct_customer_satisfactions_dd</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d</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where</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customer_satisfaction_src_id</a:t>
            </a:r>
            <a:r>
              <a:rPr lang="en-US" sz="1800" dirty="0">
                <a:solidFill>
                  <a:srgbClr val="000000"/>
                </a:solidFill>
                <a:effectLst/>
                <a:latin typeface="Consolas" panose="020B0609020204030204" pitchFamily="49" charset="0"/>
              </a:rPr>
              <a:t>=</a:t>
            </a:r>
            <a:r>
              <a:rPr lang="en-US" sz="1800" dirty="0">
                <a:solidFill>
                  <a:srgbClr val="008000"/>
                </a:solidFill>
                <a:effectLst/>
                <a:latin typeface="Consolas" panose="020B0609020204030204" pitchFamily="49" charset="0"/>
              </a:rPr>
              <a:t>'S_INC_003'</a:t>
            </a:r>
            <a:endParaRPr lang="en-US" dirty="0"/>
          </a:p>
        </p:txBody>
      </p:sp>
      <p:sp>
        <p:nvSpPr>
          <p:cNvPr id="4" name="Slide Number Placeholder 3"/>
          <p:cNvSpPr>
            <a:spLocks noGrp="1"/>
          </p:cNvSpPr>
          <p:nvPr>
            <p:ph type="sldNum" sz="quarter" idx="5"/>
          </p:nvPr>
        </p:nvSpPr>
        <p:spPr/>
        <p:txBody>
          <a:bodyPr/>
          <a:lstStyle/>
          <a:p>
            <a:fld id="{91229DCC-59D3-4387-BC31-DC8272126700}" type="slidenum">
              <a:rPr lang="en-US" smtClean="0"/>
              <a:t>6</a:t>
            </a:fld>
            <a:endParaRPr lang="en-US"/>
          </a:p>
        </p:txBody>
      </p:sp>
    </p:spTree>
    <p:extLst>
      <p:ext uri="{BB962C8B-B14F-4D97-AF65-F5344CB8AC3E}">
        <p14:creationId xmlns:p14="http://schemas.microsoft.com/office/powerpoint/2010/main" val="22952801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solidFill>
                  <a:srgbClr val="800000"/>
                </a:solidFill>
                <a:effectLst/>
                <a:latin typeface="Consolas" panose="020B0609020204030204" pitchFamily="49" charset="0"/>
              </a:rPr>
              <a:t>select</a:t>
            </a:r>
            <a:r>
              <a:rPr lang="en-US" sz="1800" dirty="0">
                <a:solidFill>
                  <a:srgbClr val="000000"/>
                </a:solidFill>
                <a:effectLst/>
                <a:latin typeface="Consolas" panose="020B0609020204030204" pitchFamily="49" charset="0"/>
              </a:rPr>
              <a:t> * </a:t>
            </a:r>
            <a:r>
              <a:rPr lang="en-US" sz="1800" b="1" dirty="0">
                <a:solidFill>
                  <a:srgbClr val="800000"/>
                </a:solidFill>
                <a:effectLst/>
                <a:latin typeface="Consolas" panose="020B0609020204030204" pitchFamily="49" charset="0"/>
              </a:rPr>
              <a:t>from</a:t>
            </a:r>
            <a:r>
              <a:rPr lang="en-US" sz="1800" dirty="0">
                <a:solidFill>
                  <a:srgbClr val="000000"/>
                </a:solidFill>
                <a:effectLst/>
                <a:latin typeface="Consolas" panose="020B0609020204030204" pitchFamily="49" charset="0"/>
              </a:rPr>
              <a:t> </a:t>
            </a:r>
            <a:r>
              <a:rPr lang="en-US" sz="1800" dirty="0">
                <a:solidFill>
                  <a:srgbClr val="956037"/>
                </a:solidFill>
                <a:effectLst/>
                <a:latin typeface="Consolas" panose="020B0609020204030204" pitchFamily="49" charset="0"/>
              </a:rPr>
              <a:t>bl_3nf</a:t>
            </a:r>
            <a:r>
              <a:rPr lang="en-US" sz="1800" dirty="0">
                <a:solidFill>
                  <a:srgbClr val="000000"/>
                </a:solidFill>
                <a:effectLst/>
                <a:latin typeface="Consolas" panose="020B0609020204030204" pitchFamily="49" charset="0"/>
              </a:rPr>
              <a:t>.</a:t>
            </a:r>
            <a:r>
              <a:rPr lang="en-US" sz="1800" dirty="0">
                <a:solidFill>
                  <a:srgbClr val="8E00C6"/>
                </a:solidFill>
                <a:effectLst/>
                <a:latin typeface="Consolas" panose="020B0609020204030204" pitchFamily="49" charset="0"/>
              </a:rPr>
              <a:t>ce_customers_scd</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where</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customer_src_id</a:t>
            </a:r>
            <a:r>
              <a:rPr lang="en-US" sz="1800" dirty="0">
                <a:solidFill>
                  <a:srgbClr val="000000"/>
                </a:solidFill>
                <a:effectLst/>
                <a:latin typeface="Consolas" panose="020B0609020204030204" pitchFamily="49" charset="0"/>
              </a:rPr>
              <a:t> = </a:t>
            </a:r>
            <a:r>
              <a:rPr lang="en-US" sz="1800" dirty="0">
                <a:solidFill>
                  <a:srgbClr val="008000"/>
                </a:solidFill>
                <a:effectLst/>
                <a:latin typeface="Consolas" panose="020B0609020204030204" pitchFamily="49" charset="0"/>
              </a:rPr>
              <a:t>'5047’</a:t>
            </a:r>
          </a:p>
          <a:p>
            <a:r>
              <a:rPr lang="en-US" sz="1800" b="1" dirty="0">
                <a:solidFill>
                  <a:srgbClr val="800000"/>
                </a:solidFill>
                <a:effectLst/>
                <a:latin typeface="Consolas" panose="020B0609020204030204" pitchFamily="49" charset="0"/>
              </a:rPr>
              <a:t>select</a:t>
            </a:r>
            <a:r>
              <a:rPr lang="en-US" sz="1800" dirty="0">
                <a:solidFill>
                  <a:srgbClr val="000000"/>
                </a:solidFill>
                <a:effectLst/>
                <a:latin typeface="Consolas" panose="020B0609020204030204" pitchFamily="49" charset="0"/>
              </a:rPr>
              <a:t> * </a:t>
            </a:r>
            <a:r>
              <a:rPr lang="en-US" sz="1800" b="1" dirty="0">
                <a:solidFill>
                  <a:srgbClr val="800000"/>
                </a:solidFill>
                <a:effectLst/>
                <a:latin typeface="Consolas" panose="020B0609020204030204" pitchFamily="49" charset="0"/>
              </a:rPr>
              <a:t>from</a:t>
            </a:r>
            <a:r>
              <a:rPr lang="en-US" sz="1800" dirty="0">
                <a:solidFill>
                  <a:srgbClr val="000000"/>
                </a:solidFill>
                <a:effectLst/>
                <a:latin typeface="Consolas" panose="020B0609020204030204" pitchFamily="49" charset="0"/>
              </a:rPr>
              <a:t> </a:t>
            </a:r>
            <a:r>
              <a:rPr lang="en-US" sz="1800" dirty="0" err="1">
                <a:solidFill>
                  <a:srgbClr val="956037"/>
                </a:solidFill>
                <a:effectLst/>
                <a:latin typeface="Consolas" panose="020B0609020204030204" pitchFamily="49" charset="0"/>
              </a:rPr>
              <a:t>bl_dm</a:t>
            </a:r>
            <a:r>
              <a:rPr lang="en-US" sz="1800" dirty="0" err="1">
                <a:solidFill>
                  <a:srgbClr val="000000"/>
                </a:solidFill>
                <a:effectLst/>
                <a:latin typeface="Consolas" panose="020B0609020204030204" pitchFamily="49" charset="0"/>
              </a:rPr>
              <a:t>.</a:t>
            </a:r>
            <a:r>
              <a:rPr lang="en-US" sz="1800" dirty="0" err="1">
                <a:solidFill>
                  <a:srgbClr val="8E00C6"/>
                </a:solidFill>
                <a:effectLst/>
                <a:latin typeface="Consolas" panose="020B0609020204030204" pitchFamily="49" charset="0"/>
              </a:rPr>
              <a:t>dim_customers_scd</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where</a:t>
            </a:r>
            <a:r>
              <a:rPr lang="en-US" sz="1800" dirty="0">
                <a:solidFill>
                  <a:srgbClr val="000000"/>
                </a:solidFill>
                <a:effectLst/>
                <a:latin typeface="Consolas" panose="020B0609020204030204" pitchFamily="49" charset="0"/>
              </a:rPr>
              <a:t> </a:t>
            </a:r>
            <a:r>
              <a:rPr lang="en-US" sz="1800" dirty="0" err="1">
                <a:solidFill>
                  <a:srgbClr val="006464"/>
                </a:solidFill>
                <a:effectLst/>
                <a:latin typeface="Consolas" panose="020B0609020204030204" pitchFamily="49" charset="0"/>
              </a:rPr>
              <a:t>customer_src_id</a:t>
            </a:r>
            <a:r>
              <a:rPr lang="en-US" sz="1800" dirty="0">
                <a:solidFill>
                  <a:srgbClr val="000000"/>
                </a:solidFill>
                <a:effectLst/>
                <a:latin typeface="Consolas" panose="020B0609020204030204" pitchFamily="49" charset="0"/>
              </a:rPr>
              <a:t> = </a:t>
            </a:r>
            <a:r>
              <a:rPr lang="en-US" sz="1800" dirty="0">
                <a:solidFill>
                  <a:srgbClr val="008000"/>
                </a:solidFill>
                <a:effectLst/>
                <a:latin typeface="Consolas" panose="020B0609020204030204" pitchFamily="49" charset="0"/>
              </a:rPr>
              <a:t>'5047'</a:t>
            </a:r>
            <a:endParaRPr lang="en-US" dirty="0"/>
          </a:p>
        </p:txBody>
      </p:sp>
      <p:sp>
        <p:nvSpPr>
          <p:cNvPr id="4" name="Slide Number Placeholder 3"/>
          <p:cNvSpPr>
            <a:spLocks noGrp="1"/>
          </p:cNvSpPr>
          <p:nvPr>
            <p:ph type="sldNum" sz="quarter" idx="5"/>
          </p:nvPr>
        </p:nvSpPr>
        <p:spPr/>
        <p:txBody>
          <a:bodyPr/>
          <a:lstStyle/>
          <a:p>
            <a:fld id="{91229DCC-59D3-4387-BC31-DC8272126700}" type="slidenum">
              <a:rPr lang="en-US" smtClean="0"/>
              <a:t>7</a:t>
            </a:fld>
            <a:endParaRPr lang="en-US"/>
          </a:p>
        </p:txBody>
      </p:sp>
    </p:spTree>
    <p:extLst>
      <p:ext uri="{BB962C8B-B14F-4D97-AF65-F5344CB8AC3E}">
        <p14:creationId xmlns:p14="http://schemas.microsoft.com/office/powerpoint/2010/main" val="2220148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800" b="1" dirty="0">
                <a:solidFill>
                  <a:srgbClr val="800000"/>
                </a:solidFill>
                <a:effectLst/>
                <a:latin typeface="Consolas" panose="020B0609020204030204" pitchFamily="49" charset="0"/>
              </a:rPr>
              <a:t>SELECT</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i="1" dirty="0" err="1">
                <a:solidFill>
                  <a:srgbClr val="8E00C6"/>
                </a:solidFill>
                <a:effectLst/>
                <a:latin typeface="Consolas" panose="020B0609020204030204" pitchFamily="49" charset="0"/>
              </a:rPr>
              <a:t>parent</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relname</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err="1">
                <a:solidFill>
                  <a:srgbClr val="006464"/>
                </a:solidFill>
                <a:effectLst/>
                <a:latin typeface="Consolas" panose="020B0609020204030204" pitchFamily="49" charset="0"/>
              </a:rPr>
              <a:t>parent_table</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i="1" dirty="0" err="1">
                <a:solidFill>
                  <a:srgbClr val="8E00C6"/>
                </a:solidFill>
                <a:effectLst/>
                <a:latin typeface="Consolas" panose="020B0609020204030204" pitchFamily="49" charset="0"/>
              </a:rPr>
              <a:t>child</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relname</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err="1">
                <a:solidFill>
                  <a:srgbClr val="006464"/>
                </a:solidFill>
                <a:effectLst/>
                <a:latin typeface="Consolas" panose="020B0609020204030204" pitchFamily="49" charset="0"/>
              </a:rPr>
              <a:t>partition_name</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b="1" dirty="0" err="1">
                <a:solidFill>
                  <a:srgbClr val="000080"/>
                </a:solidFill>
                <a:effectLst/>
                <a:latin typeface="Consolas" panose="020B0609020204030204" pitchFamily="49" charset="0"/>
              </a:rPr>
              <a:t>pg_get_expr</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i="1" dirty="0" err="1">
                <a:solidFill>
                  <a:srgbClr val="8E00C6"/>
                </a:solidFill>
                <a:effectLst/>
                <a:latin typeface="Consolas" panose="020B0609020204030204" pitchFamily="49" charset="0"/>
              </a:rPr>
              <a:t>child</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relpartbound</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i="1" dirty="0" err="1">
                <a:solidFill>
                  <a:srgbClr val="8E00C6"/>
                </a:solidFill>
                <a:effectLst/>
                <a:latin typeface="Consolas" panose="020B0609020204030204" pitchFamily="49" charset="0"/>
              </a:rPr>
              <a:t>child</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oid</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err="1">
                <a:solidFill>
                  <a:srgbClr val="006464"/>
                </a:solidFill>
                <a:effectLst/>
                <a:latin typeface="Consolas" panose="020B0609020204030204" pitchFamily="49" charset="0"/>
              </a:rPr>
              <a:t>partition_range</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FROM</a:t>
            </a:r>
            <a:r>
              <a:rPr lang="en-US" sz="1800" dirty="0">
                <a:solidFill>
                  <a:srgbClr val="000000"/>
                </a:solidFill>
                <a:effectLst/>
                <a:latin typeface="Consolas" panose="020B0609020204030204" pitchFamily="49" charset="0"/>
              </a:rPr>
              <a:t> </a:t>
            </a:r>
            <a:r>
              <a:rPr lang="en-US" sz="1800" dirty="0" err="1">
                <a:solidFill>
                  <a:srgbClr val="8E00C6"/>
                </a:solidFill>
                <a:effectLst/>
                <a:latin typeface="Consolas" panose="020B0609020204030204" pitchFamily="49" charset="0"/>
              </a:rPr>
              <a:t>pg_inherits</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i</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JOIN</a:t>
            </a:r>
            <a:r>
              <a:rPr lang="en-US" sz="1800" dirty="0">
                <a:solidFill>
                  <a:srgbClr val="000000"/>
                </a:solidFill>
                <a:effectLst/>
                <a:latin typeface="Consolas" panose="020B0609020204030204" pitchFamily="49" charset="0"/>
              </a:rPr>
              <a:t> </a:t>
            </a:r>
            <a:r>
              <a:rPr lang="en-US" sz="1800" dirty="0" err="1">
                <a:solidFill>
                  <a:srgbClr val="8E00C6"/>
                </a:solidFill>
                <a:effectLst/>
                <a:latin typeface="Consolas" panose="020B0609020204030204" pitchFamily="49" charset="0"/>
              </a:rPr>
              <a:t>pg_class</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parent</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ON</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parent</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oid</a:t>
            </a:r>
            <a:r>
              <a:rPr lang="en-US" sz="1800" dirty="0">
                <a:solidFill>
                  <a:srgbClr val="000000"/>
                </a:solidFill>
                <a:effectLst/>
                <a:latin typeface="Consolas" panose="020B0609020204030204" pitchFamily="49" charset="0"/>
              </a:rPr>
              <a:t> = </a:t>
            </a:r>
            <a:r>
              <a:rPr lang="en-US" sz="1800" i="1" dirty="0" err="1">
                <a:solidFill>
                  <a:srgbClr val="8E00C6"/>
                </a:solidFill>
                <a:effectLst/>
                <a:latin typeface="Consolas" panose="020B0609020204030204" pitchFamily="49" charset="0"/>
              </a:rPr>
              <a:t>i</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inhparent</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JOIN</a:t>
            </a:r>
            <a:r>
              <a:rPr lang="en-US" sz="1800" dirty="0">
                <a:solidFill>
                  <a:srgbClr val="000000"/>
                </a:solidFill>
                <a:effectLst/>
                <a:latin typeface="Consolas" panose="020B0609020204030204" pitchFamily="49" charset="0"/>
              </a:rPr>
              <a:t> </a:t>
            </a:r>
            <a:r>
              <a:rPr lang="en-US" sz="1800" dirty="0" err="1">
                <a:solidFill>
                  <a:srgbClr val="8E00C6"/>
                </a:solidFill>
                <a:effectLst/>
                <a:latin typeface="Consolas" panose="020B0609020204030204" pitchFamily="49" charset="0"/>
              </a:rPr>
              <a:t>pg_class</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child</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ON</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child</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oid</a:t>
            </a:r>
            <a:r>
              <a:rPr lang="en-US" sz="1800" dirty="0">
                <a:solidFill>
                  <a:srgbClr val="000000"/>
                </a:solidFill>
                <a:effectLst/>
                <a:latin typeface="Consolas" panose="020B0609020204030204" pitchFamily="49" charset="0"/>
              </a:rPr>
              <a:t> = </a:t>
            </a:r>
            <a:r>
              <a:rPr lang="en-US" sz="1800" i="1" dirty="0" err="1">
                <a:solidFill>
                  <a:srgbClr val="8E00C6"/>
                </a:solidFill>
                <a:effectLst/>
                <a:latin typeface="Consolas" panose="020B0609020204030204" pitchFamily="49" charset="0"/>
              </a:rPr>
              <a:t>i</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inhrelid</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JOIN</a:t>
            </a:r>
            <a:r>
              <a:rPr lang="en-US" sz="1800" dirty="0">
                <a:solidFill>
                  <a:srgbClr val="000000"/>
                </a:solidFill>
                <a:effectLst/>
                <a:latin typeface="Consolas" panose="020B0609020204030204" pitchFamily="49" charset="0"/>
              </a:rPr>
              <a:t> </a:t>
            </a:r>
            <a:r>
              <a:rPr lang="en-US" sz="1800" dirty="0" err="1">
                <a:solidFill>
                  <a:srgbClr val="8E00C6"/>
                </a:solidFill>
                <a:effectLst/>
                <a:latin typeface="Consolas" panose="020B0609020204030204" pitchFamily="49" charset="0"/>
              </a:rPr>
              <a:t>pg_namespace</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AS</a:t>
            </a:r>
            <a:r>
              <a:rPr lang="en-US" sz="1800" dirty="0">
                <a:solidFill>
                  <a:srgbClr val="000000"/>
                </a:solidFill>
                <a:effectLst/>
                <a:latin typeface="Consolas" panose="020B0609020204030204" pitchFamily="49" charset="0"/>
              </a:rPr>
              <a:t> </a:t>
            </a:r>
            <a:r>
              <a:rPr lang="en-US" sz="1800" i="1" dirty="0">
                <a:solidFill>
                  <a:srgbClr val="8E00C6"/>
                </a:solidFill>
                <a:effectLst/>
                <a:latin typeface="Consolas" panose="020B0609020204030204" pitchFamily="49" charset="0"/>
              </a:rPr>
              <a:t>ns</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ON</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ns</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oid</a:t>
            </a:r>
            <a:r>
              <a:rPr lang="en-US" sz="1800" dirty="0">
                <a:solidFill>
                  <a:srgbClr val="000000"/>
                </a:solidFill>
                <a:effectLst/>
                <a:latin typeface="Consolas" panose="020B0609020204030204" pitchFamily="49" charset="0"/>
              </a:rPr>
              <a:t> = </a:t>
            </a:r>
            <a:r>
              <a:rPr lang="en-US" sz="1800" i="1" dirty="0" err="1">
                <a:solidFill>
                  <a:srgbClr val="8E00C6"/>
                </a:solidFill>
                <a:effectLst/>
                <a:latin typeface="Consolas" panose="020B0609020204030204" pitchFamily="49" charset="0"/>
              </a:rPr>
              <a:t>parent</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relnamespace</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WHERE</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ns</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nspname</a:t>
            </a:r>
            <a:r>
              <a:rPr lang="en-US" sz="1800" dirty="0">
                <a:solidFill>
                  <a:srgbClr val="000000"/>
                </a:solidFill>
                <a:effectLst/>
                <a:latin typeface="Consolas" panose="020B0609020204030204" pitchFamily="49" charset="0"/>
              </a:rPr>
              <a:t> = </a:t>
            </a:r>
            <a:r>
              <a:rPr lang="en-US" sz="1800" dirty="0">
                <a:solidFill>
                  <a:srgbClr val="008000"/>
                </a:solidFill>
                <a:effectLst/>
                <a:latin typeface="Consolas" panose="020B0609020204030204" pitchFamily="49" charset="0"/>
              </a:rPr>
              <a:t>'</a:t>
            </a:r>
            <a:r>
              <a:rPr lang="en-US" sz="1800" dirty="0" err="1">
                <a:solidFill>
                  <a:srgbClr val="008000"/>
                </a:solidFill>
                <a:effectLst/>
                <a:latin typeface="Consolas" panose="020B0609020204030204" pitchFamily="49" charset="0"/>
              </a:rPr>
              <a:t>bl_dm</a:t>
            </a:r>
            <a:r>
              <a:rPr lang="en-US" sz="1800" dirty="0">
                <a:solidFill>
                  <a:srgbClr val="008000"/>
                </a:solidFill>
                <a:effectLst/>
                <a:latin typeface="Consolas" panose="020B0609020204030204" pitchFamily="49" charset="0"/>
              </a:rPr>
              <a:t>'</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b="1" dirty="0">
                <a:solidFill>
                  <a:srgbClr val="800000"/>
                </a:solidFill>
                <a:effectLst/>
                <a:latin typeface="Consolas" panose="020B0609020204030204" pitchFamily="49" charset="0"/>
              </a:rPr>
              <a:t>AND</a:t>
            </a:r>
            <a:r>
              <a:rPr lang="en-US" sz="1800" dirty="0">
                <a:solidFill>
                  <a:srgbClr val="000000"/>
                </a:solidFill>
                <a:effectLst/>
                <a:latin typeface="Consolas" panose="020B0609020204030204" pitchFamily="49" charset="0"/>
              </a:rPr>
              <a:t> </a:t>
            </a:r>
            <a:r>
              <a:rPr lang="en-US" sz="1800" i="1" dirty="0" err="1">
                <a:solidFill>
                  <a:srgbClr val="8E00C6"/>
                </a:solidFill>
                <a:effectLst/>
                <a:latin typeface="Consolas" panose="020B0609020204030204" pitchFamily="49" charset="0"/>
              </a:rPr>
              <a:t>parent</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relname</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IN</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dirty="0">
                <a:solidFill>
                  <a:srgbClr val="008000"/>
                </a:solidFill>
                <a:effectLst/>
                <a:latin typeface="Consolas" panose="020B0609020204030204" pitchFamily="49" charset="0"/>
              </a:rPr>
              <a:t>'</a:t>
            </a:r>
            <a:r>
              <a:rPr lang="en-US" sz="1800" dirty="0" err="1">
                <a:solidFill>
                  <a:srgbClr val="008000"/>
                </a:solidFill>
                <a:effectLst/>
                <a:latin typeface="Consolas" panose="020B0609020204030204" pitchFamily="49" charset="0"/>
              </a:rPr>
              <a:t>fct_bookings_dd</a:t>
            </a:r>
            <a:r>
              <a:rPr lang="en-US" sz="1800" dirty="0">
                <a:solidFill>
                  <a:srgbClr val="008000"/>
                </a:solidFill>
                <a:effectLst/>
                <a:latin typeface="Consolas" panose="020B0609020204030204" pitchFamily="49" charset="0"/>
              </a:rPr>
              <a:t>'</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dirty="0">
                <a:solidFill>
                  <a:srgbClr val="008000"/>
                </a:solidFill>
                <a:effectLst/>
                <a:latin typeface="Consolas" panose="020B0609020204030204" pitchFamily="49" charset="0"/>
              </a:rPr>
              <a:t>'</a:t>
            </a:r>
            <a:r>
              <a:rPr lang="en-US" sz="1800" dirty="0" err="1">
                <a:solidFill>
                  <a:srgbClr val="008000"/>
                </a:solidFill>
                <a:effectLst/>
                <a:latin typeface="Consolas" panose="020B0609020204030204" pitchFamily="49" charset="0"/>
              </a:rPr>
              <a:t>fct_customer_satisfactions_dd</a:t>
            </a:r>
            <a:r>
              <a:rPr lang="en-US" sz="1800" dirty="0">
                <a:solidFill>
                  <a:srgbClr val="008000"/>
                </a:solidFill>
                <a:effectLst/>
                <a:latin typeface="Consolas" panose="020B0609020204030204" pitchFamily="49" charset="0"/>
              </a:rPr>
              <a:t>'</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b="1" dirty="0">
                <a:solidFill>
                  <a:srgbClr val="800000"/>
                </a:solidFill>
                <a:effectLst/>
                <a:latin typeface="Consolas" panose="020B0609020204030204" pitchFamily="49" charset="0"/>
              </a:rPr>
              <a:t>ORDER</a:t>
            </a:r>
            <a:r>
              <a:rPr lang="en-US" sz="1800" dirty="0">
                <a:solidFill>
                  <a:srgbClr val="000000"/>
                </a:solidFill>
                <a:effectLst/>
                <a:latin typeface="Consolas" panose="020B0609020204030204" pitchFamily="49" charset="0"/>
              </a:rPr>
              <a:t> </a:t>
            </a:r>
            <a:r>
              <a:rPr lang="en-US" sz="1800" b="1" dirty="0">
                <a:solidFill>
                  <a:srgbClr val="800000"/>
                </a:solidFill>
                <a:effectLst/>
                <a:latin typeface="Consolas" panose="020B0609020204030204" pitchFamily="49" charset="0"/>
              </a:rPr>
              <a:t>BY</a:t>
            </a:r>
            <a:endParaRPr lang="en-US" sz="1800" dirty="0">
              <a:solidFill>
                <a:srgbClr val="000000"/>
              </a:solidFill>
              <a:effectLst/>
              <a:latin typeface="Consolas" panose="020B0609020204030204" pitchFamily="49" charset="0"/>
            </a:endParaRPr>
          </a:p>
          <a:p>
            <a:pPr marL="0" marR="0">
              <a:spcBef>
                <a:spcPts val="0"/>
              </a:spcBef>
              <a:spcAft>
                <a:spcPts val="0"/>
              </a:spcAft>
            </a:pPr>
            <a:r>
              <a:rPr lang="en-US" sz="1800" i="1" dirty="0" err="1">
                <a:solidFill>
                  <a:srgbClr val="8E00C6"/>
                </a:solidFill>
                <a:effectLst/>
                <a:latin typeface="Consolas" panose="020B0609020204030204" pitchFamily="49" charset="0"/>
              </a:rPr>
              <a:t>parent</a:t>
            </a:r>
            <a:r>
              <a:rPr lang="en-US" sz="1800" dirty="0" err="1">
                <a:solidFill>
                  <a:srgbClr val="000000"/>
                </a:solidFill>
                <a:effectLst/>
                <a:latin typeface="Consolas" panose="020B0609020204030204" pitchFamily="49" charset="0"/>
              </a:rPr>
              <a:t>.</a:t>
            </a:r>
            <a:r>
              <a:rPr lang="en-US" sz="1800" dirty="0" err="1">
                <a:solidFill>
                  <a:srgbClr val="006464"/>
                </a:solidFill>
                <a:effectLst/>
                <a:latin typeface="Consolas" panose="020B0609020204030204" pitchFamily="49" charset="0"/>
              </a:rPr>
              <a:t>relname</a:t>
            </a:r>
            <a:r>
              <a:rPr lang="en-US" sz="1800" dirty="0">
                <a:solidFill>
                  <a:srgbClr val="000000"/>
                </a:solidFill>
                <a:effectLst/>
                <a:latin typeface="Consolas" panose="020B0609020204030204" pitchFamily="49" charset="0"/>
              </a:rPr>
              <a:t>,</a:t>
            </a:r>
          </a:p>
          <a:p>
            <a:pPr marL="0" marR="0">
              <a:spcBef>
                <a:spcPts val="0"/>
              </a:spcBef>
              <a:spcAft>
                <a:spcPts val="0"/>
              </a:spcAft>
            </a:pPr>
            <a:r>
              <a:rPr lang="en-US" sz="1800" i="1" dirty="0" err="1">
                <a:solidFill>
                  <a:srgbClr val="006464"/>
                </a:solidFill>
                <a:effectLst/>
                <a:latin typeface="Consolas" panose="020B0609020204030204" pitchFamily="49" charset="0"/>
              </a:rPr>
              <a:t>partition_name</a:t>
            </a:r>
            <a:r>
              <a:rPr lang="en-US" sz="1800" dirty="0">
                <a:solidFill>
                  <a:srgbClr val="FF0000"/>
                </a:solidFill>
                <a:effectLst/>
                <a:latin typeface="Consolas" panose="020B0609020204030204" pitchFamily="49" charset="0"/>
              </a:rPr>
              <a:t>;</a:t>
            </a:r>
            <a:endParaRPr lang="en-US" sz="1800" dirty="0">
              <a:solidFill>
                <a:srgbClr val="000000"/>
              </a:solidFill>
              <a:effectLst/>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91229DCC-59D3-4387-BC31-DC8272126700}" type="slidenum">
              <a:rPr lang="en-US" smtClean="0"/>
              <a:t>8</a:t>
            </a:fld>
            <a:endParaRPr lang="en-US"/>
          </a:p>
        </p:txBody>
      </p:sp>
    </p:spTree>
    <p:extLst>
      <p:ext uri="{BB962C8B-B14F-4D97-AF65-F5344CB8AC3E}">
        <p14:creationId xmlns:p14="http://schemas.microsoft.com/office/powerpoint/2010/main" val="23115235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2572F-48AD-48E8-B4AB-D509D4F45D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3AB2E2-E269-4018-B864-78081225F4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EFB4BB-BA2F-48BC-B3FB-33A41D30B2AA}"/>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29F13762-8DC3-458E-B8E6-D9277663C0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D145DF-C4C6-489D-AB49-53C79CAF1088}"/>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4056040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A5BAC-CC9A-416E-A5EC-261F867BBAE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E681CE9-5C50-45B7-82FB-D50DC06B725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49B8ED-D031-4D56-9B78-5CD667D76D16}"/>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587A407C-21A4-4835-93EA-328102BA1B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89CB3-2FCD-46EA-9292-0D43213D725B}"/>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13451503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DCD0E-A1C4-4184-888D-BDDC1819F1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AF5FEA-0758-49E5-A618-2F817C1BAE7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3D98CBB-B781-4519-80D0-3887C44DE0BE}"/>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5AD4E881-FB67-4A60-AD36-BD77A9DC48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9FCC78-D817-454C-A21D-8F1FA2E45064}"/>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9385029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57ECC-0D3B-4E6F-BCB5-09BCF65F7BE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178857-F533-4A24-BCA7-F597D269E1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89F5EC-CC8C-4F9D-AAFF-A501A5C095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7B09DB3-76C8-4764-8C93-5C5DD537A942}"/>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6" name="Footer Placeholder 5">
            <a:extLst>
              <a:ext uri="{FF2B5EF4-FFF2-40B4-BE49-F238E27FC236}">
                <a16:creationId xmlns:a16="http://schemas.microsoft.com/office/drawing/2014/main" id="{2729944C-ABF3-4A13-91A1-011155D31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EAB7003-1C00-4C0F-BCDB-EF17682D7DA6}"/>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357015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99590-F0C1-4E51-B5F7-EBA1F689666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10ED8E-3B88-4B00-97E4-E06CBD45CE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69824A6-2B73-4A0E-8223-00D849E914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4E1BF2-C6A6-463E-9D67-98E23CC0F0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A40EF4-E224-4042-87DC-CC9DAF75AD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D0CA94-AB59-436A-A678-47FA0568102C}"/>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8" name="Footer Placeholder 7">
            <a:extLst>
              <a:ext uri="{FF2B5EF4-FFF2-40B4-BE49-F238E27FC236}">
                <a16:creationId xmlns:a16="http://schemas.microsoft.com/office/drawing/2014/main" id="{D784F713-6AC0-4EAA-A42C-BD6DAAFA9A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98F52AA-E306-4B46-9EA7-016FA1A68883}"/>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1791029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C688A-2E0E-47D3-8794-208461E0D71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D21D23-DF6C-4FC1-AD6F-540DEF674268}"/>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4" name="Footer Placeholder 3">
            <a:extLst>
              <a:ext uri="{FF2B5EF4-FFF2-40B4-BE49-F238E27FC236}">
                <a16:creationId xmlns:a16="http://schemas.microsoft.com/office/drawing/2014/main" id="{60871BFF-4EE6-4656-BC19-55B712A1059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4B2F55-C5C7-4BCD-B904-6BC8968F32A5}"/>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134116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07BC0-033B-40F9-A914-4BD291F7ECE7}"/>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3" name="Footer Placeholder 2">
            <a:extLst>
              <a:ext uri="{FF2B5EF4-FFF2-40B4-BE49-F238E27FC236}">
                <a16:creationId xmlns:a16="http://schemas.microsoft.com/office/drawing/2014/main" id="{3F982C54-1107-4982-8A40-C7D767E5C01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080E354-519E-4CA5-8CCA-90BBAC2C8497}"/>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1591652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F30EA-E980-4F54-A049-390FEFCEDC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3D5EA4-6532-4664-8501-C677DB444F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B18119-AA10-4573-BB27-7AEAD7B277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34DC35-BD2D-4801-A59F-A520957F3FC0}"/>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6" name="Footer Placeholder 5">
            <a:extLst>
              <a:ext uri="{FF2B5EF4-FFF2-40B4-BE49-F238E27FC236}">
                <a16:creationId xmlns:a16="http://schemas.microsoft.com/office/drawing/2014/main" id="{B4F64CE2-1CA5-496A-880B-4B81A2AC4E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822E5E-63CB-48A2-AB28-6DD33836F9B2}"/>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3618676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F0102-00D8-4176-949F-7ECE7B3CCB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0FA128-41AB-4550-8A33-B2187A719F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F9FE185-AA21-4497-AA52-529BF22135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CA58B-3504-4525-80EB-8C8B4B253487}"/>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6" name="Footer Placeholder 5">
            <a:extLst>
              <a:ext uri="{FF2B5EF4-FFF2-40B4-BE49-F238E27FC236}">
                <a16:creationId xmlns:a16="http://schemas.microsoft.com/office/drawing/2014/main" id="{03AFC1D1-0D85-4BE9-840D-EB2070D595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C49A31-4376-467D-A9F7-2ED904AAC01F}"/>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1133041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7BAFD-708F-46A0-BFA4-B0102DA1321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C416E40-A36A-49C8-8D4D-9CF8EDDF3F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08608-DD6E-4017-AEFF-EAE449676888}"/>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F09BF1C6-38A3-4DA2-AB87-62BA4DCDE3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E87E9F-50B9-421D-9DC2-E26E2FDFFDC5}"/>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7385375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50976-975D-4194-A9A3-DEA6DCB244E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39C3C02-09D3-4B9F-B350-6CE772516B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568D0-C683-425E-B260-0490BE70E277}"/>
              </a:ext>
            </a:extLst>
          </p:cNvPr>
          <p:cNvSpPr>
            <a:spLocks noGrp="1"/>
          </p:cNvSpPr>
          <p:nvPr>
            <p:ph type="dt" sz="half" idx="10"/>
          </p:nvPr>
        </p:nvSpPr>
        <p:spPr/>
        <p:txBody>
          <a:body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5EC58B22-E5A4-4AC1-AD9A-A2D4D67A05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20E451-04EE-404C-A18A-E22806C5B90D}"/>
              </a:ext>
            </a:extLst>
          </p:cNvPr>
          <p:cNvSpPr>
            <a:spLocks noGrp="1"/>
          </p:cNvSpPr>
          <p:nvPr>
            <p:ph type="sldNum" sz="quarter" idx="12"/>
          </p:nvPr>
        </p:nvSpPr>
        <p:spPr/>
        <p:txBody>
          <a:bodyPr/>
          <a:lstStyle/>
          <a:p>
            <a:fld id="{280B6230-E3EF-458D-A885-E0D18945DDF6}" type="slidenum">
              <a:rPr lang="en-US" smtClean="0"/>
              <a:t>‹#›</a:t>
            </a:fld>
            <a:endParaRPr lang="en-US"/>
          </a:p>
        </p:txBody>
      </p:sp>
    </p:spTree>
    <p:extLst>
      <p:ext uri="{BB962C8B-B14F-4D97-AF65-F5344CB8AC3E}">
        <p14:creationId xmlns:p14="http://schemas.microsoft.com/office/powerpoint/2010/main" val="38334779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1DB3CB-198F-4CD9-A6FF-326D683FE2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A1D59EE-562E-4FB3-A167-ADB9D20170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3F599-797F-4472-9FBB-05030AE0D9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7F58C94-658A-4488-8C03-90EC608DD718}" type="datetimeFigureOut">
              <a:rPr lang="en-US" smtClean="0"/>
              <a:t>7/26/2026</a:t>
            </a:fld>
            <a:endParaRPr lang="en-US"/>
          </a:p>
        </p:txBody>
      </p:sp>
      <p:sp>
        <p:nvSpPr>
          <p:cNvPr id="5" name="Footer Placeholder 4">
            <a:extLst>
              <a:ext uri="{FF2B5EF4-FFF2-40B4-BE49-F238E27FC236}">
                <a16:creationId xmlns:a16="http://schemas.microsoft.com/office/drawing/2014/main" id="{6BFFA22C-095A-4FB1-8C90-EBFFE8D14D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E45DE89-6521-4602-904F-7D46EF4413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0B6230-E3EF-458D-A885-E0D18945DDF6}" type="slidenum">
              <a:rPr lang="en-US" smtClean="0"/>
              <a:t>‹#›</a:t>
            </a:fld>
            <a:endParaRPr lang="en-US"/>
          </a:p>
        </p:txBody>
      </p:sp>
    </p:spTree>
    <p:extLst>
      <p:ext uri="{BB962C8B-B14F-4D97-AF65-F5344CB8AC3E}">
        <p14:creationId xmlns:p14="http://schemas.microsoft.com/office/powerpoint/2010/main" val="35880097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06CB6-48BC-4368-95DB-C0B9F71648BA}"/>
              </a:ext>
            </a:extLst>
          </p:cNvPr>
          <p:cNvSpPr>
            <a:spLocks noGrp="1"/>
          </p:cNvSpPr>
          <p:nvPr>
            <p:ph type="ctrTitle"/>
          </p:nvPr>
        </p:nvSpPr>
        <p:spPr>
          <a:xfrm>
            <a:off x="1524000" y="1122363"/>
            <a:ext cx="9144000" cy="791497"/>
          </a:xfrm>
        </p:spPr>
        <p:txBody>
          <a:bodyPr>
            <a:normAutofit/>
          </a:bodyPr>
          <a:lstStyle/>
          <a:p>
            <a:r>
              <a:rPr lang="en-US" sz="4800" dirty="0">
                <a:effectLst/>
                <a:latin typeface="Times New Roman" panose="02020603050405020304" pitchFamily="18" charset="0"/>
                <a:ea typeface="Times New Roman" panose="02020603050405020304" pitchFamily="18" charset="0"/>
              </a:rPr>
              <a:t>Airline Ticket Retail Sales</a:t>
            </a:r>
            <a:endParaRPr lang="en-US" sz="4800" dirty="0"/>
          </a:p>
        </p:txBody>
      </p:sp>
      <p:sp>
        <p:nvSpPr>
          <p:cNvPr id="3" name="Subtitle 2">
            <a:extLst>
              <a:ext uri="{FF2B5EF4-FFF2-40B4-BE49-F238E27FC236}">
                <a16:creationId xmlns:a16="http://schemas.microsoft.com/office/drawing/2014/main" id="{B446E4FE-FD70-46D7-9739-1F125D0A584A}"/>
              </a:ext>
            </a:extLst>
          </p:cNvPr>
          <p:cNvSpPr>
            <a:spLocks noGrp="1"/>
          </p:cNvSpPr>
          <p:nvPr>
            <p:ph type="subTitle" idx="1"/>
          </p:nvPr>
        </p:nvSpPr>
        <p:spPr>
          <a:xfrm>
            <a:off x="1524000" y="4614530"/>
            <a:ext cx="9144000" cy="643270"/>
          </a:xfrm>
        </p:spPr>
        <p:txBody>
          <a:bodyPr/>
          <a:lstStyle/>
          <a:p>
            <a:pPr algn="l"/>
            <a:r>
              <a:rPr lang="en-US" dirty="0"/>
              <a:t>Bohdan Solovei</a:t>
            </a:r>
          </a:p>
        </p:txBody>
      </p:sp>
    </p:spTree>
    <p:extLst>
      <p:ext uri="{BB962C8B-B14F-4D97-AF65-F5344CB8AC3E}">
        <p14:creationId xmlns:p14="http://schemas.microsoft.com/office/powerpoint/2010/main" val="39288148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752CA-A017-461D-AAF6-31F58E074C5A}"/>
              </a:ext>
            </a:extLst>
          </p:cNvPr>
          <p:cNvSpPr>
            <a:spLocks noGrp="1"/>
          </p:cNvSpPr>
          <p:nvPr>
            <p:ph type="title"/>
          </p:nvPr>
        </p:nvSpPr>
        <p:spPr>
          <a:xfrm>
            <a:off x="593651" y="109945"/>
            <a:ext cx="10515600" cy="538642"/>
          </a:xfrm>
        </p:spPr>
        <p:txBody>
          <a:bodyPr/>
          <a:lstStyle/>
          <a:p>
            <a:pPr algn="ctr"/>
            <a:r>
              <a:rPr lang="en-US" sz="1800" b="1" cap="all" dirty="0">
                <a:solidFill>
                  <a:srgbClr val="1A9CB0"/>
                </a:solidFill>
                <a:effectLst/>
                <a:latin typeface="Arial Black" panose="020B0A04020102020204" pitchFamily="34" charset="0"/>
                <a:ea typeface="Times New Roman" panose="02020603050405020304" pitchFamily="18" charset="0"/>
                <a:cs typeface="Times New Roman" panose="02020603050405020304" pitchFamily="18" charset="0"/>
              </a:rPr>
              <a:t>Business background</a:t>
            </a:r>
            <a:endParaRPr lang="en-US" dirty="0"/>
          </a:p>
        </p:txBody>
      </p:sp>
      <p:sp>
        <p:nvSpPr>
          <p:cNvPr id="4" name="TextBox 3">
            <a:extLst>
              <a:ext uri="{FF2B5EF4-FFF2-40B4-BE49-F238E27FC236}">
                <a16:creationId xmlns:a16="http://schemas.microsoft.com/office/drawing/2014/main" id="{D356EFB5-5E99-4BB8-8981-497441B74174}"/>
              </a:ext>
            </a:extLst>
          </p:cNvPr>
          <p:cNvSpPr txBox="1"/>
          <p:nvPr/>
        </p:nvSpPr>
        <p:spPr>
          <a:xfrm>
            <a:off x="497958" y="499731"/>
            <a:ext cx="11196084" cy="6047809"/>
          </a:xfrm>
          <a:prstGeom prst="rect">
            <a:avLst/>
          </a:prstGeom>
          <a:noFill/>
        </p:spPr>
        <p:txBody>
          <a:bodyPr wrap="square">
            <a:spAutoFit/>
          </a:bodyPr>
          <a:lstStyle/>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selected business domain is Airline Ticket Retail Sales. The company sells airline tickets through multiple sales channels, including websites, mobile applications, and travel agencies. The company also collects customer feedback after flights to evaluate service quality and customer satisfaction.</a:t>
            </a:r>
          </a:p>
          <a:p>
            <a:pPr marL="0" marR="0">
              <a:spcBef>
                <a:spcPts val="600"/>
              </a:spcBef>
              <a:spcAft>
                <a:spcPts val="0"/>
              </a:spcAft>
            </a:pPr>
            <a:r>
              <a:rPr lang="en-US" sz="1800" b="1"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objective </a:t>
            </a: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of the future data warehouse is to integrate sales transactions and customer satisfaction information into a unified analytical environment for revenue, cost, profitability, and customer experience analysis.</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Two source systems are used to populate the data warehouse.</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Source System 1 – Customer Satisfaction System</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This system contains post-flight customer survey information. Each record represents a completed customer satisfaction survey associated with a particular flight experience.</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dataset contains customer demographic information, travel characteristics, service quality ratings, delay information, and overall satisfaction assessment.</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Source System 2 – Booking and Sales System</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This system contains ticket booking transactions. Each record represents a ticket sale performed through a specific sales channel.</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dataset contains customer information, booking details, payment information, loyalty program information, ticket prices, operating costs, airport fees, discounts, and calculated profit.</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two source systems share customer identifiers, which enables integration through a common customer dimension.</a:t>
            </a:r>
          </a:p>
        </p:txBody>
      </p:sp>
    </p:spTree>
    <p:extLst>
      <p:ext uri="{BB962C8B-B14F-4D97-AF65-F5344CB8AC3E}">
        <p14:creationId xmlns:p14="http://schemas.microsoft.com/office/powerpoint/2010/main" val="3228461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18365-EC1F-4BF2-A45D-487BF9A2B966}"/>
              </a:ext>
            </a:extLst>
          </p:cNvPr>
          <p:cNvSpPr>
            <a:spLocks noGrp="1"/>
          </p:cNvSpPr>
          <p:nvPr>
            <p:ph type="title"/>
          </p:nvPr>
        </p:nvSpPr>
        <p:spPr/>
        <p:txBody>
          <a:bodyPr/>
          <a:lstStyle/>
          <a:p>
            <a:r>
              <a:rPr lang="en-US" sz="1800" b="1" cap="all" dirty="0">
                <a:solidFill>
                  <a:srgbClr val="1A9CB0"/>
                </a:solidFill>
                <a:effectLst/>
                <a:latin typeface="Arial Black" panose="020B0A04020102020204" pitchFamily="34" charset="0"/>
                <a:ea typeface="Times New Roman" panose="02020603050405020304" pitchFamily="18" charset="0"/>
                <a:cs typeface="Times New Roman" panose="02020603050405020304" pitchFamily="18" charset="0"/>
              </a:rPr>
              <a:t>Problems because of poor data management</a:t>
            </a:r>
            <a:endParaRPr lang="en-US" dirty="0"/>
          </a:p>
        </p:txBody>
      </p:sp>
      <p:sp>
        <p:nvSpPr>
          <p:cNvPr id="4" name="TextBox 3">
            <a:extLst>
              <a:ext uri="{FF2B5EF4-FFF2-40B4-BE49-F238E27FC236}">
                <a16:creationId xmlns:a16="http://schemas.microsoft.com/office/drawing/2014/main" id="{92306C54-949A-4124-AC6B-7E97968CEEE8}"/>
              </a:ext>
            </a:extLst>
          </p:cNvPr>
          <p:cNvSpPr txBox="1"/>
          <p:nvPr/>
        </p:nvSpPr>
        <p:spPr>
          <a:xfrm>
            <a:off x="838200" y="1428453"/>
            <a:ext cx="10515600" cy="2539157"/>
          </a:xfrm>
          <a:prstGeom prst="rect">
            <a:avLst/>
          </a:prstGeom>
          <a:noFill/>
        </p:spPr>
        <p:txBody>
          <a:bodyPr wrap="square">
            <a:spAutoFit/>
          </a:bodyPr>
          <a:lstStyle/>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Inconsistent Customer Information</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same customer may appear in multiple source systems. Without a centralized repository and common business definitions, inconsistencies may occur in customer-related information, making customer analysis difficult and potentially reducing data reliability.</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Data Quality Issues</a:t>
            </a:r>
          </a:p>
          <a:p>
            <a:pPr marL="0" marR="0">
              <a:spcBef>
                <a:spcPts val="600"/>
              </a:spcBef>
              <a:spcAft>
                <a:spcPts val="0"/>
              </a:spcAft>
            </a:pPr>
            <a:r>
              <a:rPr lang="en-US" sz="1800" dirty="0">
                <a:solidFill>
                  <a:srgbClr val="464547"/>
                </a:solidFill>
                <a:effectLst/>
                <a:latin typeface="Trebuchet MS" panose="020B0603020202020204" pitchFamily="34" charset="0"/>
                <a:ea typeface="Times New Roman" panose="02020603050405020304" pitchFamily="18" charset="0"/>
                <a:cs typeface="Times New Roman" panose="02020603050405020304" pitchFamily="18" charset="0"/>
              </a:rPr>
              <a:t>The existence of multiple independent systems increases the likelihood of duplicated records, inconsistent data definitions, missing values, and data synchronization problems. Such issues may negatively affect the accuracy of business reports and analytical results.</a:t>
            </a:r>
          </a:p>
        </p:txBody>
      </p:sp>
    </p:spTree>
    <p:extLst>
      <p:ext uri="{BB962C8B-B14F-4D97-AF65-F5344CB8AC3E}">
        <p14:creationId xmlns:p14="http://schemas.microsoft.com/office/powerpoint/2010/main" val="1774264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CE315A-EDDD-4CA9-810C-13E82E04DAC0}"/>
              </a:ext>
            </a:extLst>
          </p:cNvPr>
          <p:cNvSpPr>
            <a:spLocks noGrp="1"/>
          </p:cNvSpPr>
          <p:nvPr>
            <p:ph type="title"/>
          </p:nvPr>
        </p:nvSpPr>
        <p:spPr>
          <a:xfrm>
            <a:off x="838200" y="365125"/>
            <a:ext cx="10515600" cy="442949"/>
          </a:xfrm>
        </p:spPr>
        <p:txBody>
          <a:bodyPr>
            <a:normAutofit fontScale="90000"/>
          </a:bodyPr>
          <a:lstStyle/>
          <a:p>
            <a:pPr algn="ctr"/>
            <a:r>
              <a:rPr lang="en-US" dirty="0"/>
              <a:t>Logical schema</a:t>
            </a:r>
          </a:p>
        </p:txBody>
      </p:sp>
      <p:pic>
        <p:nvPicPr>
          <p:cNvPr id="6" name="Picture 5">
            <a:extLst>
              <a:ext uri="{FF2B5EF4-FFF2-40B4-BE49-F238E27FC236}">
                <a16:creationId xmlns:a16="http://schemas.microsoft.com/office/drawing/2014/main" id="{E1476FE5-DEEE-4E77-BB3B-F042A2121F0A}"/>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51533" y="974975"/>
            <a:ext cx="9910365" cy="5517899"/>
          </a:xfrm>
          <a:prstGeom prst="rect">
            <a:avLst/>
          </a:prstGeom>
          <a:noFill/>
          <a:ln>
            <a:noFill/>
          </a:ln>
        </p:spPr>
      </p:pic>
    </p:spTree>
    <p:extLst>
      <p:ext uri="{BB962C8B-B14F-4D97-AF65-F5344CB8AC3E}">
        <p14:creationId xmlns:p14="http://schemas.microsoft.com/office/powerpoint/2010/main" val="312285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32BA0-62AB-404D-A956-141DAF2CAD31}"/>
              </a:ext>
            </a:extLst>
          </p:cNvPr>
          <p:cNvSpPr>
            <a:spLocks noGrp="1"/>
          </p:cNvSpPr>
          <p:nvPr>
            <p:ph type="title"/>
          </p:nvPr>
        </p:nvSpPr>
        <p:spPr>
          <a:xfrm>
            <a:off x="838200" y="195005"/>
            <a:ext cx="10515600" cy="528010"/>
          </a:xfrm>
        </p:spPr>
        <p:txBody>
          <a:bodyPr>
            <a:normAutofit fontScale="90000"/>
          </a:bodyPr>
          <a:lstStyle/>
          <a:p>
            <a:r>
              <a:rPr lang="en-US" dirty="0"/>
              <a:t>Data Flow</a:t>
            </a:r>
          </a:p>
        </p:txBody>
      </p:sp>
      <p:pic>
        <p:nvPicPr>
          <p:cNvPr id="3" name="Picture 2">
            <a:extLst>
              <a:ext uri="{FF2B5EF4-FFF2-40B4-BE49-F238E27FC236}">
                <a16:creationId xmlns:a16="http://schemas.microsoft.com/office/drawing/2014/main" id="{BE79C27C-FACA-4739-9465-8B4BF0EEAEE4}"/>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5608" y="826186"/>
            <a:ext cx="8396587" cy="5836809"/>
          </a:xfrm>
          <a:prstGeom prst="rect">
            <a:avLst/>
          </a:prstGeom>
          <a:noFill/>
          <a:ln>
            <a:noFill/>
          </a:ln>
        </p:spPr>
      </p:pic>
    </p:spTree>
    <p:extLst>
      <p:ext uri="{BB962C8B-B14F-4D97-AF65-F5344CB8AC3E}">
        <p14:creationId xmlns:p14="http://schemas.microsoft.com/office/powerpoint/2010/main" val="1859396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73F7D6D-72F9-4C48-8493-C7D650755A33}"/>
              </a:ext>
            </a:extLst>
          </p:cNvPr>
          <p:cNvSpPr>
            <a:spLocks noGrp="1"/>
          </p:cNvSpPr>
          <p:nvPr>
            <p:ph type="title"/>
          </p:nvPr>
        </p:nvSpPr>
        <p:spPr>
          <a:xfrm>
            <a:off x="761999" y="64983"/>
            <a:ext cx="10515600" cy="772559"/>
          </a:xfrm>
        </p:spPr>
        <p:txBody>
          <a:bodyPr/>
          <a:lstStyle/>
          <a:p>
            <a:r>
              <a:rPr lang="en-US" dirty="0"/>
              <a:t>SCD1</a:t>
            </a:r>
          </a:p>
        </p:txBody>
      </p:sp>
      <p:pic>
        <p:nvPicPr>
          <p:cNvPr id="10" name="Content Placeholder 9">
            <a:extLst>
              <a:ext uri="{FF2B5EF4-FFF2-40B4-BE49-F238E27FC236}">
                <a16:creationId xmlns:a16="http://schemas.microsoft.com/office/drawing/2014/main" id="{ACC7059C-385D-40D2-B9FD-784D4375D7AB}"/>
              </a:ext>
            </a:extLst>
          </p:cNvPr>
          <p:cNvPicPr>
            <a:picLocks noGrp="1" noChangeAspect="1"/>
          </p:cNvPicPr>
          <p:nvPr>
            <p:ph sz="half" idx="1"/>
          </p:nvPr>
        </p:nvPicPr>
        <p:blipFill>
          <a:blip r:embed="rId3"/>
          <a:stretch>
            <a:fillRect/>
          </a:stretch>
        </p:blipFill>
        <p:spPr>
          <a:xfrm>
            <a:off x="838198" y="837543"/>
            <a:ext cx="7639052" cy="1977686"/>
          </a:xfrm>
        </p:spPr>
      </p:pic>
      <p:pic>
        <p:nvPicPr>
          <p:cNvPr id="12" name="Content Placeholder 11">
            <a:extLst>
              <a:ext uri="{FF2B5EF4-FFF2-40B4-BE49-F238E27FC236}">
                <a16:creationId xmlns:a16="http://schemas.microsoft.com/office/drawing/2014/main" id="{CDB751C9-4C0E-4D73-A7AB-37A39B55FD7D}"/>
              </a:ext>
            </a:extLst>
          </p:cNvPr>
          <p:cNvPicPr>
            <a:picLocks noGrp="1" noChangeAspect="1"/>
          </p:cNvPicPr>
          <p:nvPr>
            <p:ph sz="half" idx="2"/>
          </p:nvPr>
        </p:nvPicPr>
        <p:blipFill>
          <a:blip r:embed="rId4"/>
          <a:stretch>
            <a:fillRect/>
          </a:stretch>
        </p:blipFill>
        <p:spPr>
          <a:xfrm>
            <a:off x="838198" y="2922840"/>
            <a:ext cx="8743951" cy="1623349"/>
          </a:xfrm>
        </p:spPr>
      </p:pic>
      <p:sp>
        <p:nvSpPr>
          <p:cNvPr id="14" name="TextBox 13">
            <a:extLst>
              <a:ext uri="{FF2B5EF4-FFF2-40B4-BE49-F238E27FC236}">
                <a16:creationId xmlns:a16="http://schemas.microsoft.com/office/drawing/2014/main" id="{36A3EE02-AF46-45C5-A3E8-41055FB5B034}"/>
              </a:ext>
            </a:extLst>
          </p:cNvPr>
          <p:cNvSpPr txBox="1"/>
          <p:nvPr/>
        </p:nvSpPr>
        <p:spPr>
          <a:xfrm>
            <a:off x="761999" y="4653800"/>
            <a:ext cx="12192000" cy="2123658"/>
          </a:xfrm>
          <a:prstGeom prst="rect">
            <a:avLst/>
          </a:prstGeom>
          <a:noFill/>
        </p:spPr>
        <p:txBody>
          <a:bodyPr wrap="square">
            <a:spAutoFit/>
          </a:bodyPr>
          <a:lstStyle/>
          <a:p>
            <a:pPr algn="just"/>
            <a:r>
              <a:rPr lang="en-US" sz="1200" b="1" dirty="0"/>
              <a:t>Test Objective</a:t>
            </a:r>
            <a:r>
              <a:rPr lang="en-US" sz="1200" dirty="0"/>
              <a:t>: Verify that SCD Type 1 dimensions overwrite changed descriptive attributes without creating duplicate records.</a:t>
            </a:r>
          </a:p>
          <a:p>
            <a:pPr algn="just"/>
            <a:r>
              <a:rPr lang="en-US" sz="1200" b="1" dirty="0"/>
              <a:t>Test Steps</a:t>
            </a:r>
          </a:p>
          <a:p>
            <a:pPr algn="just"/>
            <a:r>
              <a:rPr lang="en-US" sz="1200" dirty="0"/>
              <a:t>Modify an existing </a:t>
            </a:r>
            <a:r>
              <a:rPr lang="en-US" sz="1200" dirty="0" err="1"/>
              <a:t>on_board_service</a:t>
            </a:r>
            <a:r>
              <a:rPr lang="en-US" sz="1200" dirty="0"/>
              <a:t> in the source system for the client</a:t>
            </a:r>
          </a:p>
          <a:p>
            <a:pPr algn="just"/>
            <a:r>
              <a:rPr lang="en-US" sz="1200" dirty="0"/>
              <a:t>Execute the incremental ETL process.</a:t>
            </a:r>
          </a:p>
          <a:p>
            <a:pPr algn="just"/>
            <a:r>
              <a:rPr lang="en-US" sz="1200" dirty="0"/>
              <a:t>Run the SCD1 MERGE procedure for dimension loading.</a:t>
            </a:r>
          </a:p>
          <a:p>
            <a:pPr algn="just"/>
            <a:r>
              <a:rPr lang="en-US" sz="1200" dirty="0"/>
              <a:t>Compare the dimension table before and after the load.</a:t>
            </a:r>
          </a:p>
          <a:p>
            <a:pPr algn="just"/>
            <a:r>
              <a:rPr lang="en-US" sz="1200" b="1" dirty="0"/>
              <a:t>Expected Result</a:t>
            </a:r>
          </a:p>
          <a:p>
            <a:pPr algn="just"/>
            <a:r>
              <a:rPr lang="en-US" sz="1200" dirty="0"/>
              <a:t>The existing dimension record is updated.</a:t>
            </a:r>
          </a:p>
          <a:p>
            <a:pPr algn="just"/>
            <a:r>
              <a:rPr lang="en-US" sz="1200" dirty="0"/>
              <a:t>The surrogate key remains unchanged.</a:t>
            </a:r>
          </a:p>
          <a:p>
            <a:pPr algn="just"/>
            <a:r>
              <a:rPr lang="en-US" sz="1200" dirty="0"/>
              <a:t>No duplicate business keys are created.</a:t>
            </a:r>
          </a:p>
          <a:p>
            <a:pPr algn="just"/>
            <a:r>
              <a:rPr lang="en-US" sz="1200" dirty="0"/>
              <a:t>In fact table the new record is added for historical purpose.</a:t>
            </a:r>
          </a:p>
        </p:txBody>
      </p:sp>
    </p:spTree>
    <p:extLst>
      <p:ext uri="{BB962C8B-B14F-4D97-AF65-F5344CB8AC3E}">
        <p14:creationId xmlns:p14="http://schemas.microsoft.com/office/powerpoint/2010/main" val="1137929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9B28836-A878-4738-ADE2-70BE5A461380}"/>
              </a:ext>
            </a:extLst>
          </p:cNvPr>
          <p:cNvSpPr>
            <a:spLocks noGrp="1"/>
          </p:cNvSpPr>
          <p:nvPr>
            <p:ph type="title"/>
          </p:nvPr>
        </p:nvSpPr>
        <p:spPr>
          <a:xfrm>
            <a:off x="838200" y="170060"/>
            <a:ext cx="10515600" cy="663575"/>
          </a:xfrm>
        </p:spPr>
        <p:txBody>
          <a:bodyPr>
            <a:normAutofit fontScale="90000"/>
          </a:bodyPr>
          <a:lstStyle/>
          <a:p>
            <a:r>
              <a:rPr lang="en-US" dirty="0">
                <a:latin typeface="Times New Roman" panose="02020603050405020304" pitchFamily="18" charset="0"/>
                <a:cs typeface="Times New Roman" panose="02020603050405020304" pitchFamily="18" charset="0"/>
              </a:rPr>
              <a:t>SCD2</a:t>
            </a:r>
          </a:p>
        </p:txBody>
      </p:sp>
      <p:pic>
        <p:nvPicPr>
          <p:cNvPr id="14" name="Content Placeholder 13">
            <a:extLst>
              <a:ext uri="{FF2B5EF4-FFF2-40B4-BE49-F238E27FC236}">
                <a16:creationId xmlns:a16="http://schemas.microsoft.com/office/drawing/2014/main" id="{A5B874A1-6A13-4C96-B1D5-BB942996B342}"/>
              </a:ext>
            </a:extLst>
          </p:cNvPr>
          <p:cNvPicPr>
            <a:picLocks noGrp="1" noChangeAspect="1"/>
          </p:cNvPicPr>
          <p:nvPr>
            <p:ph sz="half" idx="2"/>
          </p:nvPr>
        </p:nvPicPr>
        <p:blipFill>
          <a:blip r:embed="rId3"/>
          <a:stretch>
            <a:fillRect/>
          </a:stretch>
        </p:blipFill>
        <p:spPr>
          <a:xfrm>
            <a:off x="6248400" y="1190724"/>
            <a:ext cx="5181600" cy="858640"/>
          </a:xfrm>
        </p:spPr>
      </p:pic>
      <p:pic>
        <p:nvPicPr>
          <p:cNvPr id="12" name="Content Placeholder 11">
            <a:extLst>
              <a:ext uri="{FF2B5EF4-FFF2-40B4-BE49-F238E27FC236}">
                <a16:creationId xmlns:a16="http://schemas.microsoft.com/office/drawing/2014/main" id="{AFDBAF3C-99DB-4D44-A219-ADAF4C7CE844}"/>
              </a:ext>
            </a:extLst>
          </p:cNvPr>
          <p:cNvPicPr>
            <a:picLocks noGrp="1" noChangeAspect="1"/>
          </p:cNvPicPr>
          <p:nvPr>
            <p:ph sz="half" idx="1"/>
          </p:nvPr>
        </p:nvPicPr>
        <p:blipFill>
          <a:blip r:embed="rId4"/>
          <a:stretch>
            <a:fillRect/>
          </a:stretch>
        </p:blipFill>
        <p:spPr>
          <a:xfrm>
            <a:off x="838200" y="1019024"/>
            <a:ext cx="5181600" cy="954390"/>
          </a:xfrm>
        </p:spPr>
      </p:pic>
      <p:sp>
        <p:nvSpPr>
          <p:cNvPr id="16" name="TextBox 15">
            <a:extLst>
              <a:ext uri="{FF2B5EF4-FFF2-40B4-BE49-F238E27FC236}">
                <a16:creationId xmlns:a16="http://schemas.microsoft.com/office/drawing/2014/main" id="{98749D88-C751-4A14-82B9-DD2DAD932E73}"/>
              </a:ext>
            </a:extLst>
          </p:cNvPr>
          <p:cNvSpPr txBox="1"/>
          <p:nvPr/>
        </p:nvSpPr>
        <p:spPr>
          <a:xfrm>
            <a:off x="876300" y="2406453"/>
            <a:ext cx="10744200" cy="2308324"/>
          </a:xfrm>
          <a:prstGeom prst="rect">
            <a:avLst/>
          </a:prstGeom>
          <a:noFill/>
        </p:spPr>
        <p:txBody>
          <a:bodyPr wrap="square">
            <a:spAutoFit/>
          </a:bodyPr>
          <a:lstStyle/>
          <a:p>
            <a:r>
              <a:rPr lang="en-US" sz="1200" b="1" dirty="0"/>
              <a:t>Test Objective - </a:t>
            </a:r>
            <a:r>
              <a:rPr lang="en-US" sz="1200" dirty="0"/>
              <a:t>Verify historical tracking of customer attribute changes.</a:t>
            </a:r>
          </a:p>
          <a:p>
            <a:endParaRPr lang="en-US" sz="1200" dirty="0"/>
          </a:p>
          <a:p>
            <a:r>
              <a:rPr lang="en-US" sz="1200" b="1" dirty="0"/>
              <a:t>Test Steps</a:t>
            </a:r>
          </a:p>
          <a:p>
            <a:r>
              <a:rPr lang="en-US" sz="1200" dirty="0"/>
              <a:t>Update a customer attribute (for example, gender, age, or customer type) in the source system.</a:t>
            </a:r>
          </a:p>
          <a:p>
            <a:r>
              <a:rPr lang="en-US" sz="1200" dirty="0"/>
              <a:t>Execute the incremental ETL process.</a:t>
            </a:r>
          </a:p>
          <a:p>
            <a:r>
              <a:rPr lang="en-US" sz="1200" dirty="0"/>
              <a:t>Run the SCD2 loading procedure.</a:t>
            </a:r>
          </a:p>
          <a:p>
            <a:r>
              <a:rPr lang="en-US" sz="1200" dirty="0"/>
              <a:t>Query the customer dimension before and after loading.</a:t>
            </a:r>
          </a:p>
          <a:p>
            <a:r>
              <a:rPr lang="en-US" sz="1200" b="1" dirty="0"/>
              <a:t>Expected Result</a:t>
            </a:r>
          </a:p>
          <a:p>
            <a:r>
              <a:rPr lang="en-US" sz="1200" dirty="0"/>
              <a:t>The previous version of the customer record is closed (</a:t>
            </a:r>
            <a:r>
              <a:rPr lang="en-US" sz="1200" dirty="0" err="1"/>
              <a:t>is_active</a:t>
            </a:r>
            <a:r>
              <a:rPr lang="en-US" sz="1200" dirty="0"/>
              <a:t> = 'N').</a:t>
            </a:r>
          </a:p>
          <a:p>
            <a:r>
              <a:rPr lang="en-US" sz="1200" dirty="0" err="1"/>
              <a:t>end_dt</a:t>
            </a:r>
            <a:r>
              <a:rPr lang="en-US" sz="1200" dirty="0"/>
              <a:t> is populated for the historical record.</a:t>
            </a:r>
          </a:p>
          <a:p>
            <a:r>
              <a:rPr lang="en-US" sz="1200" dirty="0"/>
              <a:t>A new active version is inserted with a new surrogate key.</a:t>
            </a:r>
          </a:p>
          <a:p>
            <a:r>
              <a:rPr lang="en-US" sz="1200" dirty="0"/>
              <a:t>Complete change history is preserved.</a:t>
            </a:r>
          </a:p>
        </p:txBody>
      </p:sp>
    </p:spTree>
    <p:extLst>
      <p:ext uri="{BB962C8B-B14F-4D97-AF65-F5344CB8AC3E}">
        <p14:creationId xmlns:p14="http://schemas.microsoft.com/office/powerpoint/2010/main" val="600927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05376-E2D0-464B-9B96-3C847712F332}"/>
              </a:ext>
            </a:extLst>
          </p:cNvPr>
          <p:cNvSpPr>
            <a:spLocks noGrp="1"/>
          </p:cNvSpPr>
          <p:nvPr>
            <p:ph type="title"/>
          </p:nvPr>
        </p:nvSpPr>
        <p:spPr>
          <a:xfrm>
            <a:off x="838200" y="184150"/>
            <a:ext cx="10515600" cy="244475"/>
          </a:xfrm>
        </p:spPr>
        <p:txBody>
          <a:bodyPr>
            <a:normAutofit fontScale="90000"/>
          </a:bodyPr>
          <a:lstStyle/>
          <a:p>
            <a:r>
              <a:rPr lang="en-US" sz="3600" b="1" dirty="0">
                <a:effectLst/>
                <a:latin typeface="Times New Roman" panose="02020603050405020304" pitchFamily="18" charset="0"/>
                <a:ea typeface="Times New Roman" panose="02020603050405020304" pitchFamily="18" charset="0"/>
              </a:rPr>
              <a:t>Fact table is loaded using partition</a:t>
            </a:r>
            <a:endParaRPr lang="en-US" sz="3600" b="1" dirty="0"/>
          </a:p>
        </p:txBody>
      </p:sp>
      <p:pic>
        <p:nvPicPr>
          <p:cNvPr id="5" name="Content Placeholder 4">
            <a:extLst>
              <a:ext uri="{FF2B5EF4-FFF2-40B4-BE49-F238E27FC236}">
                <a16:creationId xmlns:a16="http://schemas.microsoft.com/office/drawing/2014/main" id="{DBE6CD07-734B-4D06-8D8D-7B65BF86C835}"/>
              </a:ext>
            </a:extLst>
          </p:cNvPr>
          <p:cNvPicPr>
            <a:picLocks noGrp="1" noChangeAspect="1"/>
          </p:cNvPicPr>
          <p:nvPr>
            <p:ph sz="half" idx="1"/>
          </p:nvPr>
        </p:nvPicPr>
        <p:blipFill>
          <a:blip r:embed="rId3"/>
          <a:stretch>
            <a:fillRect/>
          </a:stretch>
        </p:blipFill>
        <p:spPr>
          <a:xfrm>
            <a:off x="838200" y="632529"/>
            <a:ext cx="3225966" cy="3511730"/>
          </a:xfrm>
          <a:prstGeom prst="rect">
            <a:avLst/>
          </a:prstGeom>
        </p:spPr>
      </p:pic>
      <p:pic>
        <p:nvPicPr>
          <p:cNvPr id="6" name="Content Placeholder 5">
            <a:extLst>
              <a:ext uri="{FF2B5EF4-FFF2-40B4-BE49-F238E27FC236}">
                <a16:creationId xmlns:a16="http://schemas.microsoft.com/office/drawing/2014/main" id="{0CA38D47-C6D1-4596-8FFC-B0DD3E626946}"/>
              </a:ext>
            </a:extLst>
          </p:cNvPr>
          <p:cNvPicPr>
            <a:picLocks noGrp="1" noChangeAspect="1"/>
          </p:cNvPicPr>
          <p:nvPr>
            <p:ph sz="half" idx="2"/>
          </p:nvPr>
        </p:nvPicPr>
        <p:blipFill>
          <a:blip r:embed="rId4"/>
          <a:stretch>
            <a:fillRect/>
          </a:stretch>
        </p:blipFill>
        <p:spPr>
          <a:xfrm>
            <a:off x="4064166" y="644502"/>
            <a:ext cx="5181600" cy="3499757"/>
          </a:xfrm>
          <a:prstGeom prst="rect">
            <a:avLst/>
          </a:prstGeom>
        </p:spPr>
      </p:pic>
      <p:sp>
        <p:nvSpPr>
          <p:cNvPr id="8" name="TextBox 7">
            <a:extLst>
              <a:ext uri="{FF2B5EF4-FFF2-40B4-BE49-F238E27FC236}">
                <a16:creationId xmlns:a16="http://schemas.microsoft.com/office/drawing/2014/main" id="{0FC69AF3-4238-49EE-B534-C2205FED422A}"/>
              </a:ext>
            </a:extLst>
          </p:cNvPr>
          <p:cNvSpPr txBox="1"/>
          <p:nvPr/>
        </p:nvSpPr>
        <p:spPr>
          <a:xfrm>
            <a:off x="838200" y="4156232"/>
            <a:ext cx="10306050" cy="2554545"/>
          </a:xfrm>
          <a:prstGeom prst="rect">
            <a:avLst/>
          </a:prstGeom>
          <a:noFill/>
        </p:spPr>
        <p:txBody>
          <a:bodyPr wrap="square">
            <a:spAutoFit/>
          </a:bodyPr>
          <a:lstStyle/>
          <a:p>
            <a:r>
              <a:rPr lang="en-US" sz="1000" b="1" dirty="0"/>
              <a:t>Test Objective </a:t>
            </a:r>
            <a:r>
              <a:rPr lang="en-US" sz="1000" dirty="0"/>
              <a:t>- Verify incremental loading of partitioned fact tables.</a:t>
            </a:r>
          </a:p>
          <a:p>
            <a:r>
              <a:rPr lang="en-US" sz="1000" dirty="0"/>
              <a:t>Test Steps</a:t>
            </a:r>
          </a:p>
          <a:p>
            <a:r>
              <a:rPr lang="en-US" sz="1000" dirty="0"/>
              <a:t>Add new booking and customer satisfaction records for a new month (e.g., October or December 2026).</a:t>
            </a:r>
          </a:p>
          <a:p>
            <a:r>
              <a:rPr lang="en-US" sz="1000" dirty="0"/>
              <a:t>Execute:</a:t>
            </a:r>
          </a:p>
          <a:p>
            <a:r>
              <a:rPr lang="en-US" sz="1000" dirty="0"/>
              <a:t>CALL </a:t>
            </a:r>
            <a:r>
              <a:rPr lang="en-US" sz="1000" dirty="0" err="1"/>
              <a:t>bl_cl.pr_load_all_increment</a:t>
            </a:r>
            <a:r>
              <a:rPr lang="en-US" sz="1000" dirty="0"/>
              <a:t>(</a:t>
            </a:r>
          </a:p>
          <a:p>
            <a:r>
              <a:rPr lang="en-US" sz="1000" dirty="0"/>
              <a:t>    DATE '2026-10-01',</a:t>
            </a:r>
          </a:p>
          <a:p>
            <a:r>
              <a:rPr lang="en-US" sz="1000" dirty="0"/>
              <a:t>    DATE '2026-10-31',</a:t>
            </a:r>
          </a:p>
          <a:p>
            <a:r>
              <a:rPr lang="en-US" sz="1000" dirty="0"/>
              <a:t>    TRUE</a:t>
            </a:r>
          </a:p>
          <a:p>
            <a:r>
              <a:rPr lang="en-US" sz="1000" dirty="0"/>
              <a:t>);</a:t>
            </a:r>
          </a:p>
          <a:p>
            <a:r>
              <a:rPr lang="en-US" sz="1000" dirty="0"/>
              <a:t>Refresh or automatically create the required monthly partition.</a:t>
            </a:r>
          </a:p>
          <a:p>
            <a:r>
              <a:rPr lang="en-US" sz="1000" dirty="0"/>
              <a:t>Verify the loaded fact records.</a:t>
            </a:r>
          </a:p>
          <a:p>
            <a:r>
              <a:rPr lang="en-US" sz="1000" b="1" dirty="0"/>
              <a:t>Expected Result</a:t>
            </a:r>
          </a:p>
          <a:p>
            <a:r>
              <a:rPr lang="en-US" sz="1000" dirty="0"/>
              <a:t>A new monthly partition (e.g., fct_bookings_dd_202610) is created or refreshed.</a:t>
            </a:r>
          </a:p>
          <a:p>
            <a:r>
              <a:rPr lang="en-US" sz="1000" dirty="0"/>
              <a:t>New fact rows are loaded into the correct partition.</a:t>
            </a:r>
          </a:p>
          <a:p>
            <a:r>
              <a:rPr lang="en-US" sz="1000" dirty="0"/>
              <a:t>Existing partitions remain unchanged.</a:t>
            </a:r>
          </a:p>
          <a:p>
            <a:r>
              <a:rPr lang="en-US" sz="1000" dirty="0"/>
              <a:t>Repeated execution of the incremental load does not create duplicate fact records.</a:t>
            </a:r>
          </a:p>
        </p:txBody>
      </p:sp>
    </p:spTree>
    <p:extLst>
      <p:ext uri="{BB962C8B-B14F-4D97-AF65-F5344CB8AC3E}">
        <p14:creationId xmlns:p14="http://schemas.microsoft.com/office/powerpoint/2010/main" val="11408003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186</TotalTime>
  <Words>905</Words>
  <Application>Microsoft Office PowerPoint</Application>
  <PresentationFormat>Widescreen</PresentationFormat>
  <Paragraphs>92</Paragraphs>
  <Slides>8</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vt:i4>
      </vt:variant>
    </vt:vector>
  </HeadingPairs>
  <TitlesOfParts>
    <vt:vector size="16" baseType="lpstr">
      <vt:lpstr>Arial</vt:lpstr>
      <vt:lpstr>Arial Black</vt:lpstr>
      <vt:lpstr>Calibri</vt:lpstr>
      <vt:lpstr>Calibri Light</vt:lpstr>
      <vt:lpstr>Consolas</vt:lpstr>
      <vt:lpstr>Times New Roman</vt:lpstr>
      <vt:lpstr>Trebuchet MS</vt:lpstr>
      <vt:lpstr>Office Theme</vt:lpstr>
      <vt:lpstr>Airline Ticket Retail Sales</vt:lpstr>
      <vt:lpstr>Business background</vt:lpstr>
      <vt:lpstr>Problems because of poor data management</vt:lpstr>
      <vt:lpstr>Logical schema</vt:lpstr>
      <vt:lpstr>Data Flow</vt:lpstr>
      <vt:lpstr>SCD1</vt:lpstr>
      <vt:lpstr>SCD2</vt:lpstr>
      <vt:lpstr>Fact table is loaded using partition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Bogdan</dc:creator>
  <cp:lastModifiedBy>Bogdan</cp:lastModifiedBy>
  <cp:revision>8</cp:revision>
  <dcterms:created xsi:type="dcterms:W3CDTF">2026-07-26T11:52:33Z</dcterms:created>
  <dcterms:modified xsi:type="dcterms:W3CDTF">2026-07-26T14:59:02Z</dcterms:modified>
</cp:coreProperties>
</file>